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sldIdLst>
    <p:sldId id="256" r:id="rId2"/>
    <p:sldId id="257" r:id="rId3"/>
    <p:sldId id="259" r:id="rId4"/>
    <p:sldId id="258" r:id="rId5"/>
    <p:sldId id="260" r:id="rId6"/>
    <p:sldId id="261" r:id="rId7"/>
    <p:sldId id="262" r:id="rId8"/>
    <p:sldId id="263" r:id="rId9"/>
    <p:sldId id="264" r:id="rId10"/>
    <p:sldId id="265" r:id="rId11"/>
    <p:sldId id="272" r:id="rId12"/>
    <p:sldId id="273" r:id="rId13"/>
    <p:sldId id="274" r:id="rId14"/>
    <p:sldId id="275" r:id="rId15"/>
    <p:sldId id="271"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80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061" autoAdjust="0"/>
  </p:normalViewPr>
  <p:slideViewPr>
    <p:cSldViewPr snapToGrid="0">
      <p:cViewPr varScale="1">
        <p:scale>
          <a:sx n="68" d="100"/>
          <a:sy n="68" d="100"/>
        </p:scale>
        <p:origin x="90"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153584-C837-494A-B6C0-546A7FB31F60}"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1772942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153584-C837-494A-B6C0-546A7FB31F60}"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1124214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153584-C837-494A-B6C0-546A7FB31F60}"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413273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3527631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153584-C837-494A-B6C0-546A7FB31F60}"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2347104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153584-C837-494A-B6C0-546A7FB31F60}"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3927008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D2153584-C837-494A-B6C0-546A7FB31F60}"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3642205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58928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2209035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111385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2203513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A98EDFCD-3BE4-4C32-9841-66CE1AA937F7}"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4111755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153584-C837-494A-B6C0-546A7FB31F60}"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458395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2153584-C837-494A-B6C0-546A7FB31F60}"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2826185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2153584-C837-494A-B6C0-546A7FB31F60}"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1017102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153584-C837-494A-B6C0-546A7FB31F60}"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8EDFCD-3BE4-4C32-9841-66CE1AA937F7}" type="slidenum">
              <a:rPr lang="en-IN" smtClean="0"/>
              <a:t>‹#›</a:t>
            </a:fld>
            <a:endParaRPr lang="en-IN"/>
          </a:p>
        </p:txBody>
      </p:sp>
    </p:spTree>
    <p:extLst>
      <p:ext uri="{BB962C8B-B14F-4D97-AF65-F5344CB8AC3E}">
        <p14:creationId xmlns:p14="http://schemas.microsoft.com/office/powerpoint/2010/main" val="528424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D2153584-C837-494A-B6C0-546A7FB31F60}" type="datetimeFigureOut">
              <a:rPr lang="en-IN" smtClean="0"/>
              <a:t>19-03-2026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A98EDFCD-3BE4-4C32-9841-66CE1AA937F7}" type="slidenum">
              <a:rPr lang="en-IN" smtClean="0"/>
              <a:t>‹#›</a:t>
            </a:fld>
            <a:endParaRPr lang="en-IN"/>
          </a:p>
        </p:txBody>
      </p:sp>
    </p:spTree>
    <p:extLst>
      <p:ext uri="{BB962C8B-B14F-4D97-AF65-F5344CB8AC3E}">
        <p14:creationId xmlns:p14="http://schemas.microsoft.com/office/powerpoint/2010/main" val="2836785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2153584-C837-494A-B6C0-546A7FB31F60}" type="datetimeFigureOut">
              <a:rPr lang="en-IN" smtClean="0"/>
              <a:t>19-03-2026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A98EDFCD-3BE4-4C32-9841-66CE1AA937F7}" type="slidenum">
              <a:rPr lang="en-IN" smtClean="0"/>
              <a:t>‹#›</a:t>
            </a:fld>
            <a:endParaRPr lang="en-IN"/>
          </a:p>
        </p:txBody>
      </p:sp>
    </p:spTree>
    <p:extLst>
      <p:ext uri="{BB962C8B-B14F-4D97-AF65-F5344CB8AC3E}">
        <p14:creationId xmlns:p14="http://schemas.microsoft.com/office/powerpoint/2010/main" val="3136880937"/>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56D1C-D253-3C7E-D646-A7BCF01263C6}"/>
              </a:ext>
            </a:extLst>
          </p:cNvPr>
          <p:cNvSpPr>
            <a:spLocks noGrp="1"/>
          </p:cNvSpPr>
          <p:nvPr>
            <p:ph type="ctrTitle"/>
          </p:nvPr>
        </p:nvSpPr>
        <p:spPr/>
        <p:txBody>
          <a:bodyPr/>
          <a:lstStyle/>
          <a:p>
            <a:r>
              <a:rPr lang="en-IN" b="1" dirty="0">
                <a:solidFill>
                  <a:schemeClr val="tx1"/>
                </a:solidFill>
                <a:latin typeface="Arial Black" panose="020B0A04020102020204" pitchFamily="34" charset="0"/>
              </a:rPr>
              <a:t>Amazon</a:t>
            </a:r>
            <a:r>
              <a:rPr lang="en-IN" b="1" dirty="0">
                <a:solidFill>
                  <a:schemeClr val="accent1">
                    <a:lumMod val="75000"/>
                  </a:schemeClr>
                </a:solidFill>
                <a:latin typeface="Arial Black" panose="020B0A04020102020204" pitchFamily="34" charset="0"/>
              </a:rPr>
              <a:t> </a:t>
            </a:r>
          </a:p>
        </p:txBody>
      </p:sp>
      <p:sp>
        <p:nvSpPr>
          <p:cNvPr id="3" name="Subtitle 2">
            <a:extLst>
              <a:ext uri="{FF2B5EF4-FFF2-40B4-BE49-F238E27FC236}">
                <a16:creationId xmlns:a16="http://schemas.microsoft.com/office/drawing/2014/main" id="{04A6CF2A-74B0-4689-9A2D-966B61A58529}"/>
              </a:ext>
            </a:extLst>
          </p:cNvPr>
          <p:cNvSpPr>
            <a:spLocks noGrp="1"/>
          </p:cNvSpPr>
          <p:nvPr>
            <p:ph type="subTitle" idx="1"/>
          </p:nvPr>
        </p:nvSpPr>
        <p:spPr/>
        <p:txBody>
          <a:bodyPr/>
          <a:lstStyle/>
          <a:p>
            <a:r>
              <a:rPr lang="en-US" i="1" dirty="0">
                <a:solidFill>
                  <a:srgbClr val="F2800E"/>
                </a:solidFill>
              </a:rPr>
              <a:t>Logistics Optimization for Delivery Routes</a:t>
            </a:r>
            <a:endParaRPr lang="en-IN" i="1" dirty="0">
              <a:solidFill>
                <a:srgbClr val="F2800E"/>
              </a:solidFill>
            </a:endParaRPr>
          </a:p>
        </p:txBody>
      </p:sp>
    </p:spTree>
    <p:extLst>
      <p:ext uri="{BB962C8B-B14F-4D97-AF65-F5344CB8AC3E}">
        <p14:creationId xmlns:p14="http://schemas.microsoft.com/office/powerpoint/2010/main" val="2259704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7764A0-A6E2-FC8D-5B7B-43153D6E6CAD}"/>
              </a:ext>
            </a:extLst>
          </p:cNvPr>
          <p:cNvPicPr>
            <a:picLocks noChangeAspect="1"/>
          </p:cNvPicPr>
          <p:nvPr/>
        </p:nvPicPr>
        <p:blipFill>
          <a:blip r:embed="rId2"/>
          <a:stretch>
            <a:fillRect/>
          </a:stretch>
        </p:blipFill>
        <p:spPr>
          <a:xfrm>
            <a:off x="35169" y="922260"/>
            <a:ext cx="6203851" cy="4970206"/>
          </a:xfrm>
          <a:prstGeom prst="rect">
            <a:avLst/>
          </a:prstGeom>
        </p:spPr>
      </p:pic>
      <p:pic>
        <p:nvPicPr>
          <p:cNvPr id="7" name="Picture 6">
            <a:extLst>
              <a:ext uri="{FF2B5EF4-FFF2-40B4-BE49-F238E27FC236}">
                <a16:creationId xmlns:a16="http://schemas.microsoft.com/office/drawing/2014/main" id="{301F82A4-040A-F583-DE5D-737ECFA2097E}"/>
              </a:ext>
            </a:extLst>
          </p:cNvPr>
          <p:cNvPicPr>
            <a:picLocks noChangeAspect="1"/>
          </p:cNvPicPr>
          <p:nvPr/>
        </p:nvPicPr>
        <p:blipFill>
          <a:blip r:embed="rId3"/>
          <a:stretch>
            <a:fillRect/>
          </a:stretch>
        </p:blipFill>
        <p:spPr>
          <a:xfrm>
            <a:off x="6372663" y="1845590"/>
            <a:ext cx="5748996" cy="4970206"/>
          </a:xfrm>
          <a:prstGeom prst="rect">
            <a:avLst/>
          </a:prstGeom>
        </p:spPr>
      </p:pic>
      <p:sp>
        <p:nvSpPr>
          <p:cNvPr id="15" name="Rectangle 14">
            <a:extLst>
              <a:ext uri="{FF2B5EF4-FFF2-40B4-BE49-F238E27FC236}">
                <a16:creationId xmlns:a16="http://schemas.microsoft.com/office/drawing/2014/main" id="{C6B0FA11-E873-DBDB-FBA9-5AB951B38F9D}"/>
              </a:ext>
            </a:extLst>
          </p:cNvPr>
          <p:cNvSpPr/>
          <p:nvPr/>
        </p:nvSpPr>
        <p:spPr>
          <a:xfrm>
            <a:off x="10311619" y="1006718"/>
            <a:ext cx="2039971" cy="584775"/>
          </a:xfrm>
          <a:prstGeom prst="rect">
            <a:avLst/>
          </a:prstGeom>
          <a:noFill/>
        </p:spPr>
        <p:txBody>
          <a:bodyPr wrap="square" lIns="91440" tIns="45720" rIns="91440" bIns="45720">
            <a:spAutoFit/>
          </a:bodyPr>
          <a:lstStyle/>
          <a:p>
            <a:pPr algn="ctr"/>
            <a:r>
              <a:rPr lang="en-US" sz="3200" b="1" cap="none" spc="0" dirty="0">
                <a:ln/>
                <a:solidFill>
                  <a:schemeClr val="bg1"/>
                </a:solidFill>
                <a:effectLst>
                  <a:outerShdw blurRad="38100" dist="19050" dir="2700000" algn="tl" rotWithShape="0">
                    <a:schemeClr val="dk1">
                      <a:lumMod val="50000"/>
                      <a:alpha val="40000"/>
                    </a:schemeClr>
                  </a:outerShdw>
                </a:effectLst>
              </a:rPr>
              <a:t>TASK 1:</a:t>
            </a:r>
          </a:p>
        </p:txBody>
      </p:sp>
      <p:sp>
        <p:nvSpPr>
          <p:cNvPr id="3" name="TextBox 2">
            <a:extLst>
              <a:ext uri="{FF2B5EF4-FFF2-40B4-BE49-F238E27FC236}">
                <a16:creationId xmlns:a16="http://schemas.microsoft.com/office/drawing/2014/main" id="{50C68495-C4BE-956C-30A5-69865A2AE8DE}"/>
              </a:ext>
            </a:extLst>
          </p:cNvPr>
          <p:cNvSpPr txBox="1"/>
          <p:nvPr/>
        </p:nvSpPr>
        <p:spPr>
          <a:xfrm>
            <a:off x="6931856" y="922260"/>
            <a:ext cx="2708030" cy="923330"/>
          </a:xfrm>
          <a:prstGeom prst="rect">
            <a:avLst/>
          </a:prstGeom>
          <a:noFill/>
        </p:spPr>
        <p:txBody>
          <a:bodyPr wrap="square">
            <a:spAutoFit/>
          </a:bodyPr>
          <a:lstStyle/>
          <a:p>
            <a:r>
              <a:rPr lang="en-US" dirty="0"/>
              <a:t>1.Identify and delete duplicate </a:t>
            </a:r>
            <a:r>
              <a:rPr lang="en-US" dirty="0" err="1"/>
              <a:t>Order_ID</a:t>
            </a:r>
            <a:r>
              <a:rPr lang="en-US" dirty="0"/>
              <a:t> records. </a:t>
            </a:r>
            <a:endParaRPr lang="en-IN" dirty="0"/>
          </a:p>
        </p:txBody>
      </p:sp>
      <p:sp>
        <p:nvSpPr>
          <p:cNvPr id="6" name="TextBox 5">
            <a:extLst>
              <a:ext uri="{FF2B5EF4-FFF2-40B4-BE49-F238E27FC236}">
                <a16:creationId xmlns:a16="http://schemas.microsoft.com/office/drawing/2014/main" id="{2C5BED50-6F6F-B589-B2A8-640DD77D856F}"/>
              </a:ext>
            </a:extLst>
          </p:cNvPr>
          <p:cNvSpPr txBox="1"/>
          <p:nvPr/>
        </p:nvSpPr>
        <p:spPr>
          <a:xfrm>
            <a:off x="356382" y="6020104"/>
            <a:ext cx="5748996" cy="646331"/>
          </a:xfrm>
          <a:prstGeom prst="rect">
            <a:avLst/>
          </a:prstGeom>
          <a:noFill/>
        </p:spPr>
        <p:txBody>
          <a:bodyPr wrap="square">
            <a:spAutoFit/>
          </a:bodyPr>
          <a:lstStyle/>
          <a:p>
            <a:r>
              <a:rPr lang="en-US" dirty="0"/>
              <a:t>2.Replace null </a:t>
            </a:r>
            <a:r>
              <a:rPr lang="en-US" dirty="0" err="1"/>
              <a:t>Traffic_Delay_Min</a:t>
            </a:r>
            <a:r>
              <a:rPr lang="en-US" dirty="0"/>
              <a:t> with the average delay for that route. </a:t>
            </a:r>
            <a:endParaRPr lang="en-IN" dirty="0"/>
          </a:p>
        </p:txBody>
      </p:sp>
      <p:sp>
        <p:nvSpPr>
          <p:cNvPr id="8" name="Arrow: Right 7">
            <a:extLst>
              <a:ext uri="{FF2B5EF4-FFF2-40B4-BE49-F238E27FC236}">
                <a16:creationId xmlns:a16="http://schemas.microsoft.com/office/drawing/2014/main" id="{3D783CF8-86B1-AE06-1C77-EAE22F92C416}"/>
              </a:ext>
            </a:extLst>
          </p:cNvPr>
          <p:cNvSpPr/>
          <p:nvPr/>
        </p:nvSpPr>
        <p:spPr>
          <a:xfrm>
            <a:off x="5838092" y="6020538"/>
            <a:ext cx="534571" cy="3661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Left 8">
            <a:extLst>
              <a:ext uri="{FF2B5EF4-FFF2-40B4-BE49-F238E27FC236}">
                <a16:creationId xmlns:a16="http://schemas.microsoft.com/office/drawing/2014/main" id="{34F40056-AC5D-5794-AD1E-1E52937E6DBB}"/>
              </a:ext>
            </a:extLst>
          </p:cNvPr>
          <p:cNvSpPr/>
          <p:nvPr/>
        </p:nvSpPr>
        <p:spPr>
          <a:xfrm>
            <a:off x="6341014" y="1299105"/>
            <a:ext cx="509952" cy="29238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2E4BB3D-B47B-1A61-2A7D-2CBFCED8F5A5}"/>
              </a:ext>
            </a:extLst>
          </p:cNvPr>
          <p:cNvSpPr txBox="1"/>
          <p:nvPr/>
        </p:nvSpPr>
        <p:spPr>
          <a:xfrm>
            <a:off x="4438358" y="42204"/>
            <a:ext cx="6175716" cy="461665"/>
          </a:xfrm>
          <a:prstGeom prst="rect">
            <a:avLst/>
          </a:prstGeom>
          <a:noFill/>
        </p:spPr>
        <p:txBody>
          <a:bodyPr wrap="square">
            <a:spAutoFit/>
          </a:bodyPr>
          <a:lstStyle/>
          <a:p>
            <a:r>
              <a:rPr lang="en-IN" sz="2400" dirty="0">
                <a:solidFill>
                  <a:schemeClr val="accent5">
                    <a:lumMod val="40000"/>
                    <a:lumOff val="60000"/>
                  </a:schemeClr>
                </a:solidFill>
              </a:rPr>
              <a:t>Data Cleaning &amp; Preparation</a:t>
            </a:r>
          </a:p>
        </p:txBody>
      </p:sp>
    </p:spTree>
    <p:extLst>
      <p:ext uri="{BB962C8B-B14F-4D97-AF65-F5344CB8AC3E}">
        <p14:creationId xmlns:p14="http://schemas.microsoft.com/office/powerpoint/2010/main" val="365812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B8552D4-4B75-CD83-1937-619FA293C1C7}"/>
              </a:ext>
            </a:extLst>
          </p:cNvPr>
          <p:cNvPicPr>
            <a:picLocks noChangeAspect="1"/>
          </p:cNvPicPr>
          <p:nvPr/>
        </p:nvPicPr>
        <p:blipFill>
          <a:blip r:embed="rId2"/>
          <a:stretch>
            <a:fillRect/>
          </a:stretch>
        </p:blipFill>
        <p:spPr>
          <a:xfrm>
            <a:off x="42864" y="42864"/>
            <a:ext cx="6341805" cy="3176707"/>
          </a:xfrm>
          <a:prstGeom prst="rect">
            <a:avLst/>
          </a:prstGeom>
        </p:spPr>
      </p:pic>
      <p:sp>
        <p:nvSpPr>
          <p:cNvPr id="2" name="TextBox 1">
            <a:extLst>
              <a:ext uri="{FF2B5EF4-FFF2-40B4-BE49-F238E27FC236}">
                <a16:creationId xmlns:a16="http://schemas.microsoft.com/office/drawing/2014/main" id="{9A32181A-86E3-A697-F234-D165FB5688A3}"/>
              </a:ext>
            </a:extLst>
          </p:cNvPr>
          <p:cNvSpPr txBox="1"/>
          <p:nvPr/>
        </p:nvSpPr>
        <p:spPr>
          <a:xfrm>
            <a:off x="7238736" y="1145382"/>
            <a:ext cx="4336025" cy="2031325"/>
          </a:xfrm>
          <a:prstGeom prst="rect">
            <a:avLst/>
          </a:prstGeom>
          <a:noFill/>
        </p:spPr>
        <p:txBody>
          <a:bodyPr wrap="square" rtlCol="0">
            <a:spAutoFit/>
          </a:bodyPr>
          <a:lstStyle/>
          <a:p>
            <a:endParaRPr lang="en-US" b="1" dirty="0">
              <a:solidFill>
                <a:srgbClr val="FFFF00"/>
              </a:solidFill>
            </a:endParaRPr>
          </a:p>
          <a:p>
            <a:pPr marL="285750" indent="-285750">
              <a:buFont typeface="Arial" panose="020B0604020202020204" pitchFamily="34" charset="0"/>
              <a:buChar char="•"/>
            </a:pPr>
            <a:r>
              <a:rPr lang="en-US" b="1" dirty="0">
                <a:solidFill>
                  <a:srgbClr val="FFFF00"/>
                </a:solidFill>
              </a:rPr>
              <a:t>All date columns were already stored in YYYY-MM-DD format</a:t>
            </a:r>
          </a:p>
          <a:p>
            <a:pPr marL="285750" indent="-285750">
              <a:buFont typeface="Arial" panose="020B0604020202020204" pitchFamily="34" charset="0"/>
              <a:buChar char="•"/>
            </a:pPr>
            <a:r>
              <a:rPr lang="en-US" b="1" dirty="0">
                <a:solidFill>
                  <a:srgbClr val="FFFF00"/>
                </a:solidFill>
              </a:rPr>
              <a:t>Therefore, no data transformation was required</a:t>
            </a:r>
          </a:p>
          <a:p>
            <a:pPr marL="285750" indent="-285750">
              <a:buFont typeface="Arial" panose="020B0604020202020204" pitchFamily="34" charset="0"/>
              <a:buChar char="•"/>
            </a:pPr>
            <a:r>
              <a:rPr lang="en-US" b="1" dirty="0">
                <a:solidFill>
                  <a:srgbClr val="FFFF00"/>
                </a:solidFill>
              </a:rPr>
              <a:t> DATE_FORMAT() was used to ensure consistent output format.</a:t>
            </a:r>
            <a:endParaRPr lang="en-IN" b="1" dirty="0">
              <a:solidFill>
                <a:srgbClr val="FFFF00"/>
              </a:solidFill>
            </a:endParaRPr>
          </a:p>
        </p:txBody>
      </p:sp>
      <p:sp>
        <p:nvSpPr>
          <p:cNvPr id="3" name="TextBox 2">
            <a:extLst>
              <a:ext uri="{FF2B5EF4-FFF2-40B4-BE49-F238E27FC236}">
                <a16:creationId xmlns:a16="http://schemas.microsoft.com/office/drawing/2014/main" id="{EB04D284-39D0-E38A-A460-BB7BEC26B10C}"/>
              </a:ext>
            </a:extLst>
          </p:cNvPr>
          <p:cNvSpPr txBox="1"/>
          <p:nvPr/>
        </p:nvSpPr>
        <p:spPr>
          <a:xfrm>
            <a:off x="309717" y="4549676"/>
            <a:ext cx="4793226"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FFFF00"/>
                </a:solidFill>
                <a:latin typeface="Bell MT" panose="02020503060305020303" pitchFamily="18" charset="0"/>
              </a:rPr>
              <a:t>We validated delivery dates by comparing </a:t>
            </a:r>
            <a:r>
              <a:rPr lang="en-US" b="1" dirty="0" err="1">
                <a:solidFill>
                  <a:srgbClr val="FFFF00"/>
                </a:solidFill>
                <a:latin typeface="Bell MT" panose="02020503060305020303" pitchFamily="18" charset="0"/>
              </a:rPr>
              <a:t>Actual_Delivery_Date</a:t>
            </a:r>
            <a:r>
              <a:rPr lang="en-US" b="1" dirty="0">
                <a:solidFill>
                  <a:srgbClr val="FFFF00"/>
                </a:solidFill>
                <a:latin typeface="Bell MT" panose="02020503060305020303" pitchFamily="18" charset="0"/>
              </a:rPr>
              <a:t> with </a:t>
            </a:r>
            <a:r>
              <a:rPr lang="en-US" b="1" dirty="0" err="1">
                <a:solidFill>
                  <a:srgbClr val="FFFF00"/>
                </a:solidFill>
                <a:latin typeface="Bell MT" panose="02020503060305020303" pitchFamily="18" charset="0"/>
              </a:rPr>
              <a:t>Order_Date</a:t>
            </a:r>
            <a:r>
              <a:rPr lang="en-US" b="1" dirty="0">
                <a:solidFill>
                  <a:srgbClr val="FFFF00"/>
                </a:solidFill>
                <a:latin typeface="Bell MT" panose="02020503060305020303" pitchFamily="18" charset="0"/>
              </a:rPr>
              <a:t>.</a:t>
            </a:r>
          </a:p>
          <a:p>
            <a:endParaRPr lang="en-US" b="1" dirty="0">
              <a:solidFill>
                <a:srgbClr val="FFFF00"/>
              </a:solidFill>
              <a:latin typeface="Bell MT" panose="02020503060305020303" pitchFamily="18" charset="0"/>
            </a:endParaRPr>
          </a:p>
          <a:p>
            <a:pPr marL="285750" indent="-285750">
              <a:buFont typeface="Arial" panose="020B0604020202020204" pitchFamily="34" charset="0"/>
              <a:buChar char="•"/>
            </a:pPr>
            <a:r>
              <a:rPr lang="en-US" b="1" dirty="0">
                <a:solidFill>
                  <a:srgbClr val="FFFF00"/>
                </a:solidFill>
                <a:latin typeface="Bell MT" panose="02020503060305020303" pitchFamily="18" charset="0"/>
              </a:rPr>
              <a:t> Records where delivery occurred before the order date were flagged as Invalid, as they indicate data inconsistencies.</a:t>
            </a:r>
            <a:endParaRPr lang="en-IN" b="1" dirty="0">
              <a:solidFill>
                <a:srgbClr val="FFFF00"/>
              </a:solidFill>
              <a:latin typeface="Bell MT" panose="02020503060305020303" pitchFamily="18" charset="0"/>
            </a:endParaRPr>
          </a:p>
        </p:txBody>
      </p:sp>
      <p:pic>
        <p:nvPicPr>
          <p:cNvPr id="5" name="Picture 4">
            <a:extLst>
              <a:ext uri="{FF2B5EF4-FFF2-40B4-BE49-F238E27FC236}">
                <a16:creationId xmlns:a16="http://schemas.microsoft.com/office/drawing/2014/main" id="{D8700816-E4D5-F8BA-E171-659C7CCB60EC}"/>
              </a:ext>
            </a:extLst>
          </p:cNvPr>
          <p:cNvPicPr>
            <a:picLocks noChangeAspect="1"/>
          </p:cNvPicPr>
          <p:nvPr/>
        </p:nvPicPr>
        <p:blipFill>
          <a:blip r:embed="rId3"/>
          <a:stretch>
            <a:fillRect/>
          </a:stretch>
        </p:blipFill>
        <p:spPr>
          <a:xfrm>
            <a:off x="5355507" y="3298000"/>
            <a:ext cx="6779342" cy="3517136"/>
          </a:xfrm>
          <a:prstGeom prst="rect">
            <a:avLst/>
          </a:prstGeom>
        </p:spPr>
      </p:pic>
      <p:sp>
        <p:nvSpPr>
          <p:cNvPr id="6" name="TextBox 5">
            <a:extLst>
              <a:ext uri="{FF2B5EF4-FFF2-40B4-BE49-F238E27FC236}">
                <a16:creationId xmlns:a16="http://schemas.microsoft.com/office/drawing/2014/main" id="{1D74EE73-01B5-9A6A-C6FC-5B3771A297FF}"/>
              </a:ext>
            </a:extLst>
          </p:cNvPr>
          <p:cNvSpPr txBox="1"/>
          <p:nvPr/>
        </p:nvSpPr>
        <p:spPr>
          <a:xfrm>
            <a:off x="7205301" y="234883"/>
            <a:ext cx="4986699" cy="646331"/>
          </a:xfrm>
          <a:prstGeom prst="rect">
            <a:avLst/>
          </a:prstGeom>
          <a:noFill/>
        </p:spPr>
        <p:txBody>
          <a:bodyPr wrap="square">
            <a:spAutoFit/>
          </a:bodyPr>
          <a:lstStyle/>
          <a:p>
            <a:r>
              <a:rPr lang="en-US" dirty="0"/>
              <a:t>3.Convert all date columns into YYYY-MM-DD format using SQL functions. </a:t>
            </a:r>
            <a:endParaRPr lang="en-IN" dirty="0"/>
          </a:p>
        </p:txBody>
      </p:sp>
      <p:sp>
        <p:nvSpPr>
          <p:cNvPr id="7" name="Arrow: Left 6">
            <a:extLst>
              <a:ext uri="{FF2B5EF4-FFF2-40B4-BE49-F238E27FC236}">
                <a16:creationId xmlns:a16="http://schemas.microsoft.com/office/drawing/2014/main" id="{7659B1C1-6B43-AE08-B2B5-4D37211D325F}"/>
              </a:ext>
            </a:extLst>
          </p:cNvPr>
          <p:cNvSpPr/>
          <p:nvPr/>
        </p:nvSpPr>
        <p:spPr>
          <a:xfrm>
            <a:off x="6700838" y="558048"/>
            <a:ext cx="537898" cy="32316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E6C71C0-5D70-7257-CDD3-B84DD8CD1B30}"/>
              </a:ext>
            </a:extLst>
          </p:cNvPr>
          <p:cNvSpPr txBox="1"/>
          <p:nvPr/>
        </p:nvSpPr>
        <p:spPr>
          <a:xfrm>
            <a:off x="166957" y="3638430"/>
            <a:ext cx="4935986" cy="646331"/>
          </a:xfrm>
          <a:prstGeom prst="rect">
            <a:avLst/>
          </a:prstGeom>
          <a:noFill/>
        </p:spPr>
        <p:txBody>
          <a:bodyPr wrap="square">
            <a:spAutoFit/>
          </a:bodyPr>
          <a:lstStyle/>
          <a:p>
            <a:r>
              <a:rPr lang="en-US" dirty="0"/>
              <a:t>4.Ensure that no </a:t>
            </a:r>
            <a:r>
              <a:rPr lang="en-US" dirty="0" err="1"/>
              <a:t>Actual_Delivery_Date</a:t>
            </a:r>
            <a:r>
              <a:rPr lang="en-US" dirty="0"/>
              <a:t> is before </a:t>
            </a:r>
            <a:r>
              <a:rPr lang="en-US" dirty="0" err="1"/>
              <a:t>Order_Date</a:t>
            </a:r>
            <a:r>
              <a:rPr lang="en-US" dirty="0"/>
              <a:t> (flag such records).</a:t>
            </a:r>
            <a:endParaRPr lang="en-IN" dirty="0"/>
          </a:p>
        </p:txBody>
      </p:sp>
      <p:sp>
        <p:nvSpPr>
          <p:cNvPr id="10" name="Arrow: Right 9">
            <a:extLst>
              <a:ext uri="{FF2B5EF4-FFF2-40B4-BE49-F238E27FC236}">
                <a16:creationId xmlns:a16="http://schemas.microsoft.com/office/drawing/2014/main" id="{7226B9DB-C660-6337-5600-C39A8F922923}"/>
              </a:ext>
            </a:extLst>
          </p:cNvPr>
          <p:cNvSpPr/>
          <p:nvPr/>
        </p:nvSpPr>
        <p:spPr>
          <a:xfrm>
            <a:off x="4686300" y="3814762"/>
            <a:ext cx="542925" cy="3000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63230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954646-CD3F-AA0F-39C1-203E7DB2027B}"/>
              </a:ext>
            </a:extLst>
          </p:cNvPr>
          <p:cNvPicPr>
            <a:picLocks noChangeAspect="1"/>
          </p:cNvPicPr>
          <p:nvPr/>
        </p:nvPicPr>
        <p:blipFill>
          <a:blip r:embed="rId2"/>
          <a:stretch>
            <a:fillRect/>
          </a:stretch>
        </p:blipFill>
        <p:spPr>
          <a:xfrm>
            <a:off x="113148" y="771373"/>
            <a:ext cx="6300328" cy="3357715"/>
          </a:xfrm>
          <a:prstGeom prst="rect">
            <a:avLst/>
          </a:prstGeom>
        </p:spPr>
      </p:pic>
      <p:sp>
        <p:nvSpPr>
          <p:cNvPr id="6" name="TextBox 5">
            <a:extLst>
              <a:ext uri="{FF2B5EF4-FFF2-40B4-BE49-F238E27FC236}">
                <a16:creationId xmlns:a16="http://schemas.microsoft.com/office/drawing/2014/main" id="{1D40B4AA-5C36-03D0-F4EA-6A56A5B57782}"/>
              </a:ext>
            </a:extLst>
          </p:cNvPr>
          <p:cNvSpPr txBox="1"/>
          <p:nvPr/>
        </p:nvSpPr>
        <p:spPr>
          <a:xfrm>
            <a:off x="7026686" y="1613231"/>
            <a:ext cx="3699386" cy="1754326"/>
          </a:xfrm>
          <a:prstGeom prst="rect">
            <a:avLst/>
          </a:prstGeom>
          <a:noFill/>
        </p:spPr>
        <p:txBody>
          <a:bodyPr wrap="square" rtlCol="0">
            <a:spAutoFit/>
          </a:bodyPr>
          <a:lstStyle/>
          <a:p>
            <a:r>
              <a:rPr lang="en-US" b="1">
                <a:solidFill>
                  <a:srgbClr val="FFFF00"/>
                </a:solidFill>
                <a:latin typeface="Bell MT" panose="02020503060305020303" pitchFamily="18" charset="0"/>
              </a:rPr>
              <a:t>Delivery delay was calculated using the DATEDIFF() function by subtracting the order date from the actual delivery date. This helps identify delayed, on-time, and invalid deliveries.</a:t>
            </a:r>
            <a:endParaRPr lang="en-US" b="1" dirty="0">
              <a:solidFill>
                <a:srgbClr val="FFFF00"/>
              </a:solidFill>
              <a:latin typeface="Bell MT" panose="02020503060305020303" pitchFamily="18" charset="0"/>
            </a:endParaRPr>
          </a:p>
        </p:txBody>
      </p:sp>
      <p:pic>
        <p:nvPicPr>
          <p:cNvPr id="8" name="Picture 7">
            <a:extLst>
              <a:ext uri="{FF2B5EF4-FFF2-40B4-BE49-F238E27FC236}">
                <a16:creationId xmlns:a16="http://schemas.microsoft.com/office/drawing/2014/main" id="{7AA0035B-9F8C-7256-A0C6-1F9F97840FB0}"/>
              </a:ext>
            </a:extLst>
          </p:cNvPr>
          <p:cNvPicPr>
            <a:picLocks noChangeAspect="1"/>
          </p:cNvPicPr>
          <p:nvPr/>
        </p:nvPicPr>
        <p:blipFill>
          <a:blip r:embed="rId3"/>
          <a:stretch>
            <a:fillRect/>
          </a:stretch>
        </p:blipFill>
        <p:spPr>
          <a:xfrm>
            <a:off x="6526624" y="3452025"/>
            <a:ext cx="5623172" cy="3357715"/>
          </a:xfrm>
          <a:prstGeom prst="rect">
            <a:avLst/>
          </a:prstGeom>
        </p:spPr>
      </p:pic>
      <p:sp>
        <p:nvSpPr>
          <p:cNvPr id="10" name="TextBox 9">
            <a:extLst>
              <a:ext uri="{FF2B5EF4-FFF2-40B4-BE49-F238E27FC236}">
                <a16:creationId xmlns:a16="http://schemas.microsoft.com/office/drawing/2014/main" id="{9EBC0DE4-7E4B-ECAE-FF45-3CFFAD1353BD}"/>
              </a:ext>
            </a:extLst>
          </p:cNvPr>
          <p:cNvSpPr txBox="1"/>
          <p:nvPr/>
        </p:nvSpPr>
        <p:spPr>
          <a:xfrm>
            <a:off x="158543" y="5130882"/>
            <a:ext cx="5285377" cy="1477328"/>
          </a:xfrm>
          <a:prstGeom prst="rect">
            <a:avLst/>
          </a:prstGeom>
          <a:noFill/>
        </p:spPr>
        <p:txBody>
          <a:bodyPr wrap="square" rtlCol="0">
            <a:spAutoFit/>
          </a:bodyPr>
          <a:lstStyle/>
          <a:p>
            <a:r>
              <a:rPr lang="en-US" b="1" dirty="0">
                <a:solidFill>
                  <a:srgbClr val="FFFF00"/>
                </a:solidFill>
                <a:latin typeface="Bell MT" panose="02020503060305020303" pitchFamily="18" charset="0"/>
              </a:rPr>
              <a:t>Average delivery delay was calculated for each route using the DATEDIFF() function. Routes were ranked in descending order to identify the top 10 most delayed routes. Invalid records were excluded to ensure accurate analysis.</a:t>
            </a:r>
            <a:endParaRPr lang="en-IN" b="1" dirty="0">
              <a:solidFill>
                <a:srgbClr val="FFFF00"/>
              </a:solidFill>
              <a:latin typeface="Bell MT" panose="02020503060305020303" pitchFamily="18" charset="0"/>
            </a:endParaRPr>
          </a:p>
        </p:txBody>
      </p:sp>
      <p:sp>
        <p:nvSpPr>
          <p:cNvPr id="11" name="Arrow: Right 10">
            <a:extLst>
              <a:ext uri="{FF2B5EF4-FFF2-40B4-BE49-F238E27FC236}">
                <a16:creationId xmlns:a16="http://schemas.microsoft.com/office/drawing/2014/main" id="{7AD639C1-432F-6B68-3F91-DBE6983AFD73}"/>
              </a:ext>
            </a:extLst>
          </p:cNvPr>
          <p:cNvSpPr/>
          <p:nvPr/>
        </p:nvSpPr>
        <p:spPr>
          <a:xfrm>
            <a:off x="5443920" y="4750593"/>
            <a:ext cx="442913" cy="3857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Left 11">
            <a:extLst>
              <a:ext uri="{FF2B5EF4-FFF2-40B4-BE49-F238E27FC236}">
                <a16:creationId xmlns:a16="http://schemas.microsoft.com/office/drawing/2014/main" id="{AD070FF1-7394-E825-0A36-0AF5E4864AD3}"/>
              </a:ext>
            </a:extLst>
          </p:cNvPr>
          <p:cNvSpPr/>
          <p:nvPr/>
        </p:nvSpPr>
        <p:spPr>
          <a:xfrm>
            <a:off x="6526624" y="1071563"/>
            <a:ext cx="500062" cy="40005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A009FA54-3826-682D-C89E-8C0F5174A1E9}"/>
              </a:ext>
            </a:extLst>
          </p:cNvPr>
          <p:cNvSpPr/>
          <p:nvPr/>
        </p:nvSpPr>
        <p:spPr>
          <a:xfrm>
            <a:off x="10514797" y="886838"/>
            <a:ext cx="1634999" cy="584775"/>
          </a:xfrm>
          <a:prstGeom prst="rect">
            <a:avLst/>
          </a:prstGeom>
          <a:noFill/>
        </p:spPr>
        <p:txBody>
          <a:bodyPr wrap="none" lIns="91440" tIns="45720" rIns="91440" bIns="45720">
            <a:spAutoFit/>
          </a:bodyPr>
          <a:lstStyle/>
          <a:p>
            <a:pPr algn="ctr"/>
            <a:r>
              <a:rPr lang="en-US" sz="3200" b="1" cap="none" spc="0" dirty="0">
                <a:ln/>
                <a:solidFill>
                  <a:schemeClr val="bg1"/>
                </a:solidFill>
                <a:effectLst>
                  <a:outerShdw blurRad="38100" dist="19050" dir="2700000" algn="tl" rotWithShape="0">
                    <a:schemeClr val="dk1">
                      <a:lumMod val="50000"/>
                      <a:alpha val="40000"/>
                    </a:schemeClr>
                  </a:outerShdw>
                </a:effectLst>
              </a:rPr>
              <a:t>TASK 2:</a:t>
            </a:r>
            <a:endParaRPr lang="en-IN" sz="3200" b="1" cap="none" spc="0" dirty="0">
              <a:ln/>
              <a:solidFill>
                <a:schemeClr val="bg1"/>
              </a:solidFill>
              <a:effectLst>
                <a:outerShdw blurRad="38100" dist="19050" dir="2700000" algn="tl" rotWithShape="0">
                  <a:schemeClr val="dk1">
                    <a:lumMod val="50000"/>
                    <a:alpha val="40000"/>
                  </a:schemeClr>
                </a:outerShdw>
              </a:effectLst>
            </a:endParaRPr>
          </a:p>
        </p:txBody>
      </p:sp>
      <p:sp>
        <p:nvSpPr>
          <p:cNvPr id="3" name="TextBox 2">
            <a:extLst>
              <a:ext uri="{FF2B5EF4-FFF2-40B4-BE49-F238E27FC236}">
                <a16:creationId xmlns:a16="http://schemas.microsoft.com/office/drawing/2014/main" id="{9FD8D3B4-22E1-EA32-3E9D-08F2CA0AAD86}"/>
              </a:ext>
            </a:extLst>
          </p:cNvPr>
          <p:cNvSpPr txBox="1"/>
          <p:nvPr/>
        </p:nvSpPr>
        <p:spPr>
          <a:xfrm>
            <a:off x="4561016" y="141377"/>
            <a:ext cx="6165056" cy="461665"/>
          </a:xfrm>
          <a:prstGeom prst="rect">
            <a:avLst/>
          </a:prstGeom>
          <a:noFill/>
        </p:spPr>
        <p:txBody>
          <a:bodyPr wrap="square">
            <a:spAutoFit/>
          </a:bodyPr>
          <a:lstStyle/>
          <a:p>
            <a:r>
              <a:rPr lang="en-IN" sz="2400" dirty="0">
                <a:solidFill>
                  <a:schemeClr val="accent5">
                    <a:lumMod val="40000"/>
                    <a:lumOff val="60000"/>
                  </a:schemeClr>
                </a:solidFill>
              </a:rPr>
              <a:t>Delivery Delay Analysis </a:t>
            </a:r>
          </a:p>
        </p:txBody>
      </p:sp>
      <p:sp>
        <p:nvSpPr>
          <p:cNvPr id="7" name="TextBox 6">
            <a:extLst>
              <a:ext uri="{FF2B5EF4-FFF2-40B4-BE49-F238E27FC236}">
                <a16:creationId xmlns:a16="http://schemas.microsoft.com/office/drawing/2014/main" id="{BFFF0033-4EED-8119-E52A-B43A7BDE8459}"/>
              </a:ext>
            </a:extLst>
          </p:cNvPr>
          <p:cNvSpPr txBox="1"/>
          <p:nvPr/>
        </p:nvSpPr>
        <p:spPr>
          <a:xfrm>
            <a:off x="7169420" y="856059"/>
            <a:ext cx="3202643" cy="646331"/>
          </a:xfrm>
          <a:prstGeom prst="rect">
            <a:avLst/>
          </a:prstGeom>
          <a:noFill/>
        </p:spPr>
        <p:txBody>
          <a:bodyPr wrap="square">
            <a:spAutoFit/>
          </a:bodyPr>
          <a:lstStyle/>
          <a:p>
            <a:r>
              <a:rPr lang="en-US" dirty="0"/>
              <a:t>1.Calculate delivery delay (in days) for each orders.</a:t>
            </a:r>
            <a:endParaRPr lang="en-IN" dirty="0"/>
          </a:p>
        </p:txBody>
      </p:sp>
      <p:sp>
        <p:nvSpPr>
          <p:cNvPr id="13" name="TextBox 12">
            <a:extLst>
              <a:ext uri="{FF2B5EF4-FFF2-40B4-BE49-F238E27FC236}">
                <a16:creationId xmlns:a16="http://schemas.microsoft.com/office/drawing/2014/main" id="{2249E406-1758-D585-2E17-59BBAACDB304}"/>
              </a:ext>
            </a:extLst>
          </p:cNvPr>
          <p:cNvSpPr txBox="1"/>
          <p:nvPr/>
        </p:nvSpPr>
        <p:spPr>
          <a:xfrm>
            <a:off x="253259" y="4541849"/>
            <a:ext cx="5303809" cy="646331"/>
          </a:xfrm>
          <a:prstGeom prst="rect">
            <a:avLst/>
          </a:prstGeom>
          <a:noFill/>
        </p:spPr>
        <p:txBody>
          <a:bodyPr wrap="square">
            <a:spAutoFit/>
          </a:bodyPr>
          <a:lstStyle/>
          <a:p>
            <a:r>
              <a:rPr lang="en-US" dirty="0"/>
              <a:t>2.Find Top 10 delayed routes based on average delay days. </a:t>
            </a:r>
            <a:endParaRPr lang="en-IN" dirty="0"/>
          </a:p>
        </p:txBody>
      </p:sp>
    </p:spTree>
    <p:extLst>
      <p:ext uri="{BB962C8B-B14F-4D97-AF65-F5344CB8AC3E}">
        <p14:creationId xmlns:p14="http://schemas.microsoft.com/office/powerpoint/2010/main" val="2029931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24463A-288E-3064-05D3-9F2CFB38C1D3}"/>
              </a:ext>
            </a:extLst>
          </p:cNvPr>
          <p:cNvPicPr>
            <a:picLocks noChangeAspect="1"/>
          </p:cNvPicPr>
          <p:nvPr/>
        </p:nvPicPr>
        <p:blipFill>
          <a:blip r:embed="rId2"/>
          <a:stretch>
            <a:fillRect/>
          </a:stretch>
        </p:blipFill>
        <p:spPr>
          <a:xfrm>
            <a:off x="141337" y="878729"/>
            <a:ext cx="11968257" cy="5100542"/>
          </a:xfrm>
          <a:prstGeom prst="rect">
            <a:avLst/>
          </a:prstGeom>
        </p:spPr>
      </p:pic>
      <p:sp>
        <p:nvSpPr>
          <p:cNvPr id="5" name="TextBox 4">
            <a:extLst>
              <a:ext uri="{FF2B5EF4-FFF2-40B4-BE49-F238E27FC236}">
                <a16:creationId xmlns:a16="http://schemas.microsoft.com/office/drawing/2014/main" id="{283CE2C1-6941-D1B9-3794-80CC170D270E}"/>
              </a:ext>
            </a:extLst>
          </p:cNvPr>
          <p:cNvSpPr txBox="1"/>
          <p:nvPr/>
        </p:nvSpPr>
        <p:spPr>
          <a:xfrm>
            <a:off x="363562" y="5979271"/>
            <a:ext cx="11344274" cy="646331"/>
          </a:xfrm>
          <a:prstGeom prst="rect">
            <a:avLst/>
          </a:prstGeom>
          <a:noFill/>
        </p:spPr>
        <p:txBody>
          <a:bodyPr wrap="square" rtlCol="0">
            <a:spAutoFit/>
          </a:bodyPr>
          <a:lstStyle/>
          <a:p>
            <a:r>
              <a:rPr lang="en-US" b="1" dirty="0">
                <a:solidFill>
                  <a:srgbClr val="FFFF00"/>
                </a:solidFill>
                <a:latin typeface="Bell MT" panose="02020503060305020303" pitchFamily="18" charset="0"/>
              </a:rPr>
              <a:t>Orders were ranked within each warehouse based on delivery delay using window functions. This helps identify the most delayed orders per warehouse for targeted improvements</a:t>
            </a:r>
            <a:r>
              <a:rPr lang="en-US" b="1" dirty="0">
                <a:latin typeface="Bell MT" panose="02020503060305020303" pitchFamily="18" charset="0"/>
              </a:rPr>
              <a:t>.</a:t>
            </a:r>
          </a:p>
        </p:txBody>
      </p:sp>
      <p:sp>
        <p:nvSpPr>
          <p:cNvPr id="4" name="TextBox 3">
            <a:extLst>
              <a:ext uri="{FF2B5EF4-FFF2-40B4-BE49-F238E27FC236}">
                <a16:creationId xmlns:a16="http://schemas.microsoft.com/office/drawing/2014/main" id="{B9BE32CA-FF4E-0E7B-D448-55A372E9A1EC}"/>
              </a:ext>
            </a:extLst>
          </p:cNvPr>
          <p:cNvSpPr txBox="1"/>
          <p:nvPr/>
        </p:nvSpPr>
        <p:spPr>
          <a:xfrm>
            <a:off x="585788" y="450710"/>
            <a:ext cx="7953853" cy="369332"/>
          </a:xfrm>
          <a:prstGeom prst="rect">
            <a:avLst/>
          </a:prstGeom>
          <a:noFill/>
        </p:spPr>
        <p:txBody>
          <a:bodyPr wrap="square">
            <a:spAutoFit/>
          </a:bodyPr>
          <a:lstStyle/>
          <a:p>
            <a:r>
              <a:rPr lang="en-US" dirty="0"/>
              <a:t>3.Use window functions to rank all orders by delay within each warehouse.</a:t>
            </a:r>
            <a:endParaRPr lang="en-IN" dirty="0"/>
          </a:p>
        </p:txBody>
      </p:sp>
    </p:spTree>
    <p:extLst>
      <p:ext uri="{BB962C8B-B14F-4D97-AF65-F5344CB8AC3E}">
        <p14:creationId xmlns:p14="http://schemas.microsoft.com/office/powerpoint/2010/main" val="2222483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517CE6-6FE4-7417-72A6-8D610731F78C}"/>
              </a:ext>
            </a:extLst>
          </p:cNvPr>
          <p:cNvSpPr txBox="1"/>
          <p:nvPr/>
        </p:nvSpPr>
        <p:spPr>
          <a:xfrm>
            <a:off x="42204" y="5338468"/>
            <a:ext cx="5111187" cy="1477328"/>
          </a:xfrm>
          <a:prstGeom prst="rect">
            <a:avLst/>
          </a:prstGeom>
          <a:noFill/>
        </p:spPr>
        <p:txBody>
          <a:bodyPr wrap="square" rtlCol="0">
            <a:spAutoFit/>
          </a:bodyPr>
          <a:lstStyle/>
          <a:p>
            <a:r>
              <a:rPr lang="en-US" i="1" dirty="0">
                <a:solidFill>
                  <a:srgbClr val="FFFF00"/>
                </a:solidFill>
              </a:rPr>
              <a:t>All route-level metrics were calculated in a single query to provide a consolidated view of performance, enabling easier comparison across routes.</a:t>
            </a:r>
          </a:p>
          <a:p>
            <a:endParaRPr lang="en-IN" dirty="0"/>
          </a:p>
        </p:txBody>
      </p:sp>
      <p:pic>
        <p:nvPicPr>
          <p:cNvPr id="15" name="Picture 14">
            <a:extLst>
              <a:ext uri="{FF2B5EF4-FFF2-40B4-BE49-F238E27FC236}">
                <a16:creationId xmlns:a16="http://schemas.microsoft.com/office/drawing/2014/main" id="{E1A4016F-2146-BE63-EDCA-ECE4793AB5E0}"/>
              </a:ext>
            </a:extLst>
          </p:cNvPr>
          <p:cNvPicPr>
            <a:picLocks noChangeAspect="1"/>
          </p:cNvPicPr>
          <p:nvPr/>
        </p:nvPicPr>
        <p:blipFill>
          <a:blip r:embed="rId2"/>
          <a:stretch>
            <a:fillRect/>
          </a:stretch>
        </p:blipFill>
        <p:spPr>
          <a:xfrm>
            <a:off x="83309" y="702270"/>
            <a:ext cx="6098344" cy="4543865"/>
          </a:xfrm>
          <a:prstGeom prst="rect">
            <a:avLst/>
          </a:prstGeom>
        </p:spPr>
      </p:pic>
      <p:pic>
        <p:nvPicPr>
          <p:cNvPr id="16" name="Picture 15">
            <a:extLst>
              <a:ext uri="{FF2B5EF4-FFF2-40B4-BE49-F238E27FC236}">
                <a16:creationId xmlns:a16="http://schemas.microsoft.com/office/drawing/2014/main" id="{4C515B99-6623-7F6D-7900-D6264E31E1C0}"/>
              </a:ext>
            </a:extLst>
          </p:cNvPr>
          <p:cNvPicPr>
            <a:picLocks noChangeAspect="1"/>
          </p:cNvPicPr>
          <p:nvPr/>
        </p:nvPicPr>
        <p:blipFill>
          <a:blip r:embed="rId3"/>
          <a:stretch>
            <a:fillRect/>
          </a:stretch>
        </p:blipFill>
        <p:spPr>
          <a:xfrm>
            <a:off x="6286500" y="3360649"/>
            <a:ext cx="5863296" cy="3455147"/>
          </a:xfrm>
          <a:prstGeom prst="rect">
            <a:avLst/>
          </a:prstGeom>
        </p:spPr>
      </p:pic>
      <p:sp>
        <p:nvSpPr>
          <p:cNvPr id="4" name="TextBox 3">
            <a:extLst>
              <a:ext uri="{FF2B5EF4-FFF2-40B4-BE49-F238E27FC236}">
                <a16:creationId xmlns:a16="http://schemas.microsoft.com/office/drawing/2014/main" id="{5C76FC62-2922-4846-4AA9-F3F70CD5C55F}"/>
              </a:ext>
            </a:extLst>
          </p:cNvPr>
          <p:cNvSpPr txBox="1"/>
          <p:nvPr/>
        </p:nvSpPr>
        <p:spPr>
          <a:xfrm>
            <a:off x="10592972" y="1036393"/>
            <a:ext cx="1434905" cy="584775"/>
          </a:xfrm>
          <a:prstGeom prst="rect">
            <a:avLst/>
          </a:prstGeom>
          <a:noFill/>
        </p:spPr>
        <p:txBody>
          <a:bodyPr wrap="square">
            <a:spAutoFit/>
          </a:bodyPr>
          <a:lstStyle/>
          <a:p>
            <a:r>
              <a:rPr lang="en-IN" sz="3200" b="1" dirty="0">
                <a:solidFill>
                  <a:schemeClr val="bg1"/>
                </a:solidFill>
              </a:rPr>
              <a:t>Task</a:t>
            </a:r>
            <a:r>
              <a:rPr lang="en-IN" sz="2400" b="1" dirty="0">
                <a:solidFill>
                  <a:schemeClr val="bg1"/>
                </a:solidFill>
              </a:rPr>
              <a:t> 3:</a:t>
            </a:r>
          </a:p>
        </p:txBody>
      </p:sp>
      <p:sp>
        <p:nvSpPr>
          <p:cNvPr id="6" name="TextBox 5">
            <a:extLst>
              <a:ext uri="{FF2B5EF4-FFF2-40B4-BE49-F238E27FC236}">
                <a16:creationId xmlns:a16="http://schemas.microsoft.com/office/drawing/2014/main" id="{3B9F767B-EFAE-9FCA-B697-7E514EFDBE65}"/>
              </a:ext>
            </a:extLst>
          </p:cNvPr>
          <p:cNvSpPr txBox="1"/>
          <p:nvPr/>
        </p:nvSpPr>
        <p:spPr>
          <a:xfrm>
            <a:off x="4329332" y="105013"/>
            <a:ext cx="6098344" cy="461665"/>
          </a:xfrm>
          <a:prstGeom prst="rect">
            <a:avLst/>
          </a:prstGeom>
          <a:noFill/>
        </p:spPr>
        <p:txBody>
          <a:bodyPr wrap="square">
            <a:spAutoFit/>
          </a:bodyPr>
          <a:lstStyle/>
          <a:p>
            <a:r>
              <a:rPr lang="en-IN" sz="2400" dirty="0">
                <a:solidFill>
                  <a:schemeClr val="accent5">
                    <a:lumMod val="40000"/>
                    <a:lumOff val="60000"/>
                  </a:schemeClr>
                </a:solidFill>
              </a:rPr>
              <a:t>Route Optimization Insights</a:t>
            </a:r>
          </a:p>
        </p:txBody>
      </p:sp>
      <p:sp>
        <p:nvSpPr>
          <p:cNvPr id="8" name="TextBox 7">
            <a:extLst>
              <a:ext uri="{FF2B5EF4-FFF2-40B4-BE49-F238E27FC236}">
                <a16:creationId xmlns:a16="http://schemas.microsoft.com/office/drawing/2014/main" id="{8858E3D8-CC5D-51F8-2BF3-E2661832F587}"/>
              </a:ext>
            </a:extLst>
          </p:cNvPr>
          <p:cNvSpPr txBox="1"/>
          <p:nvPr/>
        </p:nvSpPr>
        <p:spPr>
          <a:xfrm>
            <a:off x="6585000" y="882504"/>
            <a:ext cx="5111187" cy="1477328"/>
          </a:xfrm>
          <a:prstGeom prst="rect">
            <a:avLst/>
          </a:prstGeom>
          <a:noFill/>
        </p:spPr>
        <p:txBody>
          <a:bodyPr wrap="square">
            <a:spAutoFit/>
          </a:bodyPr>
          <a:lstStyle/>
          <a:p>
            <a:r>
              <a:rPr lang="en-US" dirty="0"/>
              <a:t>1.For each route, calculate: </a:t>
            </a:r>
          </a:p>
          <a:p>
            <a:r>
              <a:rPr lang="en-US" dirty="0"/>
              <a:t>○ Average delivery time (in days). </a:t>
            </a:r>
          </a:p>
          <a:p>
            <a:r>
              <a:rPr lang="en-US" dirty="0"/>
              <a:t>○ Average traffic delay. </a:t>
            </a:r>
          </a:p>
          <a:p>
            <a:r>
              <a:rPr lang="en-US" dirty="0"/>
              <a:t>○ Distance-to-time efficiency ratio: </a:t>
            </a:r>
            <a:r>
              <a:rPr lang="en-US" dirty="0" err="1"/>
              <a:t>Distance_KM</a:t>
            </a:r>
            <a:r>
              <a:rPr lang="en-US" dirty="0"/>
              <a:t> / </a:t>
            </a:r>
            <a:r>
              <a:rPr lang="en-US" dirty="0" err="1"/>
              <a:t>Average_Travel_Time_Min</a:t>
            </a:r>
            <a:r>
              <a:rPr lang="en-US" dirty="0"/>
              <a:t>.</a:t>
            </a:r>
            <a:endParaRPr lang="en-IN" dirty="0"/>
          </a:p>
        </p:txBody>
      </p:sp>
      <p:sp>
        <p:nvSpPr>
          <p:cNvPr id="10" name="TextBox 9">
            <a:extLst>
              <a:ext uri="{FF2B5EF4-FFF2-40B4-BE49-F238E27FC236}">
                <a16:creationId xmlns:a16="http://schemas.microsoft.com/office/drawing/2014/main" id="{F4296C7A-CB5D-3C9D-E895-23573F1AABEB}"/>
              </a:ext>
            </a:extLst>
          </p:cNvPr>
          <p:cNvSpPr txBox="1"/>
          <p:nvPr/>
        </p:nvSpPr>
        <p:spPr>
          <a:xfrm>
            <a:off x="6585000" y="2513721"/>
            <a:ext cx="6098344" cy="369332"/>
          </a:xfrm>
          <a:prstGeom prst="rect">
            <a:avLst/>
          </a:prstGeom>
          <a:noFill/>
        </p:spPr>
        <p:txBody>
          <a:bodyPr wrap="square">
            <a:spAutoFit/>
          </a:bodyPr>
          <a:lstStyle/>
          <a:p>
            <a:r>
              <a:rPr lang="en-US" dirty="0"/>
              <a:t>2.Identify 3 routes with the worst efficiency ratio. </a:t>
            </a:r>
            <a:endParaRPr lang="en-IN" dirty="0"/>
          </a:p>
        </p:txBody>
      </p:sp>
      <p:sp>
        <p:nvSpPr>
          <p:cNvPr id="11" name="Arrow: Left 10">
            <a:extLst>
              <a:ext uri="{FF2B5EF4-FFF2-40B4-BE49-F238E27FC236}">
                <a16:creationId xmlns:a16="http://schemas.microsoft.com/office/drawing/2014/main" id="{30219BDA-A72F-0E0D-6359-A803A101C648}"/>
              </a:ext>
            </a:extLst>
          </p:cNvPr>
          <p:cNvSpPr/>
          <p:nvPr/>
        </p:nvSpPr>
        <p:spPr>
          <a:xfrm>
            <a:off x="6198248" y="1436502"/>
            <a:ext cx="386752" cy="3693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06BCBF86-A6DF-F5E6-1409-5D7911815B21}"/>
              </a:ext>
            </a:extLst>
          </p:cNvPr>
          <p:cNvSpPr/>
          <p:nvPr/>
        </p:nvSpPr>
        <p:spPr>
          <a:xfrm>
            <a:off x="9429750" y="2883053"/>
            <a:ext cx="35718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8209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906EFF87-0FF8-1EB9-A049-689E2BE08973}"/>
              </a:ext>
            </a:extLst>
          </p:cNvPr>
          <p:cNvSpPr>
            <a:spLocks noChangeArrowheads="1"/>
          </p:cNvSpPr>
          <p:nvPr/>
        </p:nvSpPr>
        <p:spPr bwMode="auto">
          <a:xfrm>
            <a:off x="6510337" y="1443843"/>
            <a:ext cx="557688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 4.</a:t>
            </a:r>
            <a:r>
              <a:rPr lang="en-US" dirty="0"/>
              <a:t> Recommend potential routes for optimization.</a:t>
            </a:r>
          </a:p>
          <a:p>
            <a:pPr lvl="0" defTabSz="91440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Arial" panose="020B0604020202020204" pitchFamily="34" charset="0"/>
              </a:rPr>
              <a:t> Optimize routes with </a:t>
            </a:r>
            <a:r>
              <a:rPr kumimoji="0" lang="en-US" altLang="en-US" sz="1800" b="1" i="0" u="none" strike="noStrike" cap="none" normalizeH="0" baseline="0" dirty="0">
                <a:ln>
                  <a:noFill/>
                </a:ln>
                <a:solidFill>
                  <a:srgbClr val="FFFF00"/>
                </a:solidFill>
                <a:effectLst/>
                <a:latin typeface="Arial" panose="020B0604020202020204" pitchFamily="34" charset="0"/>
              </a:rPr>
              <a:t>low efficiency ratio</a:t>
            </a:r>
            <a:endParaRPr kumimoji="0" lang="en-US" altLang="en-US" sz="18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Arial" panose="020B0604020202020204" pitchFamily="34" charset="0"/>
              </a:rPr>
              <a:t> Focus on routes with </a:t>
            </a:r>
            <a:r>
              <a:rPr kumimoji="0" lang="en-US" altLang="en-US" sz="1800" b="1" i="0" u="none" strike="noStrike" cap="none" normalizeH="0" baseline="0" dirty="0">
                <a:ln>
                  <a:noFill/>
                </a:ln>
                <a:solidFill>
                  <a:srgbClr val="FFFF00"/>
                </a:solidFill>
                <a:effectLst/>
                <a:latin typeface="Arial" panose="020B0604020202020204" pitchFamily="34" charset="0"/>
              </a:rPr>
              <a:t>&gt;20% delays</a:t>
            </a:r>
            <a:endParaRPr kumimoji="0" lang="en-US" altLang="en-US" sz="18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Arial" panose="020B0604020202020204" pitchFamily="34" charset="0"/>
              </a:rPr>
              <a:t> Reduce </a:t>
            </a:r>
            <a:r>
              <a:rPr kumimoji="0" lang="en-US" altLang="en-US" sz="1800" b="1" i="0" u="none" strike="noStrike" cap="none" normalizeH="0" baseline="0" dirty="0">
                <a:ln>
                  <a:noFill/>
                </a:ln>
                <a:solidFill>
                  <a:srgbClr val="FFFF00"/>
                </a:solidFill>
                <a:effectLst/>
                <a:latin typeface="Arial" panose="020B0604020202020204" pitchFamily="34" charset="0"/>
              </a:rPr>
              <a:t>traffic delays</a:t>
            </a:r>
            <a:r>
              <a:rPr kumimoji="0" lang="en-US" altLang="en-US" sz="1800" b="0" i="0" u="none" strike="noStrike" cap="none" normalizeH="0" baseline="0" dirty="0">
                <a:ln>
                  <a:noFill/>
                </a:ln>
                <a:solidFill>
                  <a:srgbClr val="FFFF00"/>
                </a:solidFill>
                <a:effectLst/>
                <a:latin typeface="Arial" panose="020B0604020202020204" pitchFamily="34" charset="0"/>
              </a:rPr>
              <a:t> using alternate paths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Arial" panose="020B0604020202020204" pitchFamily="34" charset="0"/>
              </a:rPr>
              <a:t> Improve </a:t>
            </a:r>
            <a:r>
              <a:rPr kumimoji="0" lang="en-US" altLang="en-US" sz="1800" b="1" i="0" u="none" strike="noStrike" cap="none" normalizeH="0" baseline="0" dirty="0">
                <a:ln>
                  <a:noFill/>
                </a:ln>
                <a:solidFill>
                  <a:srgbClr val="FFFF00"/>
                </a:solidFill>
                <a:effectLst/>
                <a:latin typeface="Arial" panose="020B0604020202020204" pitchFamily="34" charset="0"/>
              </a:rPr>
              <a:t>delivery scheduling (avoid peak hours)</a:t>
            </a:r>
            <a:endParaRPr kumimoji="0" lang="en-US" altLang="en-US" sz="18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Arial" panose="020B0604020202020204" pitchFamily="34" charset="0"/>
              </a:rPr>
              <a:t> Assign </a:t>
            </a:r>
            <a:r>
              <a:rPr kumimoji="0" lang="en-US" altLang="en-US" sz="1800" b="1" i="0" u="none" strike="noStrike" cap="none" normalizeH="0" baseline="0" dirty="0">
                <a:ln>
                  <a:noFill/>
                </a:ln>
                <a:solidFill>
                  <a:srgbClr val="FFFF00"/>
                </a:solidFill>
                <a:effectLst/>
                <a:latin typeface="Arial" panose="020B0604020202020204" pitchFamily="34" charset="0"/>
              </a:rPr>
              <a:t>better agents to high-delay routes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rgbClr val="FFFF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rgbClr val="FFFF00"/>
              </a:solidFill>
              <a:effectLst/>
              <a:latin typeface="Arial" panose="020B0604020202020204" pitchFamily="34" charset="0"/>
            </a:endParaRPr>
          </a:p>
          <a:p>
            <a:pPr defTabSz="914400" eaLnBrk="0" fontAlgn="base" hangingPunct="0">
              <a:spcBef>
                <a:spcPct val="0"/>
              </a:spcBef>
              <a:spcAft>
                <a:spcPct val="0"/>
              </a:spcAft>
            </a:pPr>
            <a:r>
              <a:rPr lang="en-US" i="1" dirty="0">
                <a:solidFill>
                  <a:srgbClr val="92D050"/>
                </a:solidFill>
              </a:rPr>
              <a:t>Routes with high delays and low efficiency should be prioritized for optimization using better planning and traffic management.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8D3CF0B2-4FDD-FD2E-939D-F1D63B0C4607}"/>
              </a:ext>
            </a:extLst>
          </p:cNvPr>
          <p:cNvPicPr>
            <a:picLocks noChangeAspect="1"/>
          </p:cNvPicPr>
          <p:nvPr/>
        </p:nvPicPr>
        <p:blipFill>
          <a:blip r:embed="rId2"/>
          <a:stretch>
            <a:fillRect/>
          </a:stretch>
        </p:blipFill>
        <p:spPr>
          <a:xfrm>
            <a:off x="126612" y="756166"/>
            <a:ext cx="6096000" cy="6045562"/>
          </a:xfrm>
          <a:prstGeom prst="rect">
            <a:avLst/>
          </a:prstGeom>
        </p:spPr>
      </p:pic>
      <p:sp>
        <p:nvSpPr>
          <p:cNvPr id="3" name="TextBox 2">
            <a:extLst>
              <a:ext uri="{FF2B5EF4-FFF2-40B4-BE49-F238E27FC236}">
                <a16:creationId xmlns:a16="http://schemas.microsoft.com/office/drawing/2014/main" id="{6751730B-3769-B068-B6F8-FB9FEFCB0075}"/>
              </a:ext>
            </a:extLst>
          </p:cNvPr>
          <p:cNvSpPr txBox="1"/>
          <p:nvPr/>
        </p:nvSpPr>
        <p:spPr>
          <a:xfrm>
            <a:off x="416719" y="386834"/>
            <a:ext cx="6093618" cy="369332"/>
          </a:xfrm>
          <a:prstGeom prst="rect">
            <a:avLst/>
          </a:prstGeom>
          <a:noFill/>
        </p:spPr>
        <p:txBody>
          <a:bodyPr wrap="square">
            <a:spAutoFit/>
          </a:bodyPr>
          <a:lstStyle/>
          <a:p>
            <a:r>
              <a:rPr lang="en-US" dirty="0"/>
              <a:t>3.Find routes with &gt;20% delayed shipments. </a:t>
            </a:r>
            <a:endParaRPr lang="en-IN" dirty="0"/>
          </a:p>
        </p:txBody>
      </p:sp>
    </p:spTree>
    <p:extLst>
      <p:ext uri="{BB962C8B-B14F-4D97-AF65-F5344CB8AC3E}">
        <p14:creationId xmlns:p14="http://schemas.microsoft.com/office/powerpoint/2010/main" val="76647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A64677-C1EE-EA7B-37B0-C53F3156BC93}"/>
              </a:ext>
            </a:extLst>
          </p:cNvPr>
          <p:cNvSpPr txBox="1"/>
          <p:nvPr/>
        </p:nvSpPr>
        <p:spPr>
          <a:xfrm>
            <a:off x="4267953" y="74653"/>
            <a:ext cx="4068365" cy="461665"/>
          </a:xfrm>
          <a:prstGeom prst="rect">
            <a:avLst/>
          </a:prstGeom>
          <a:noFill/>
        </p:spPr>
        <p:txBody>
          <a:bodyPr wrap="square">
            <a:spAutoFit/>
          </a:bodyPr>
          <a:lstStyle/>
          <a:p>
            <a:r>
              <a:rPr lang="en-IN" sz="2400" b="1" dirty="0">
                <a:solidFill>
                  <a:schemeClr val="accent5">
                    <a:lumMod val="40000"/>
                    <a:lumOff val="60000"/>
                  </a:schemeClr>
                </a:solidFill>
                <a:latin typeface="+mj-lt"/>
              </a:rPr>
              <a:t>Warehouse Performance</a:t>
            </a:r>
          </a:p>
        </p:txBody>
      </p:sp>
      <p:pic>
        <p:nvPicPr>
          <p:cNvPr id="5" name="Picture 4">
            <a:extLst>
              <a:ext uri="{FF2B5EF4-FFF2-40B4-BE49-F238E27FC236}">
                <a16:creationId xmlns:a16="http://schemas.microsoft.com/office/drawing/2014/main" id="{6B0EE99F-A1EF-A46F-037F-6AA1A070B9D5}"/>
              </a:ext>
            </a:extLst>
          </p:cNvPr>
          <p:cNvPicPr>
            <a:picLocks noChangeAspect="1"/>
          </p:cNvPicPr>
          <p:nvPr/>
        </p:nvPicPr>
        <p:blipFill>
          <a:blip r:embed="rId2"/>
          <a:stretch>
            <a:fillRect/>
          </a:stretch>
        </p:blipFill>
        <p:spPr>
          <a:xfrm>
            <a:off x="42205" y="1571624"/>
            <a:ext cx="5584874" cy="5211723"/>
          </a:xfrm>
          <a:prstGeom prst="rect">
            <a:avLst/>
          </a:prstGeom>
        </p:spPr>
      </p:pic>
      <p:sp>
        <p:nvSpPr>
          <p:cNvPr id="6" name="TextBox 5">
            <a:extLst>
              <a:ext uri="{FF2B5EF4-FFF2-40B4-BE49-F238E27FC236}">
                <a16:creationId xmlns:a16="http://schemas.microsoft.com/office/drawing/2014/main" id="{9CA6ED87-50A6-812C-AAA2-7272E3D9BAEC}"/>
              </a:ext>
            </a:extLst>
          </p:cNvPr>
          <p:cNvSpPr txBox="1"/>
          <p:nvPr/>
        </p:nvSpPr>
        <p:spPr>
          <a:xfrm>
            <a:off x="614363" y="942975"/>
            <a:ext cx="4343400" cy="646331"/>
          </a:xfrm>
          <a:prstGeom prst="rect">
            <a:avLst/>
          </a:prstGeom>
          <a:noFill/>
        </p:spPr>
        <p:txBody>
          <a:bodyPr wrap="square" rtlCol="0">
            <a:spAutoFit/>
          </a:bodyPr>
          <a:lstStyle/>
          <a:p>
            <a:r>
              <a:rPr lang="en-US" dirty="0"/>
              <a:t>1. Find the top 3 warehouses with the highest average processing time. </a:t>
            </a:r>
            <a:endParaRPr lang="en-IN" dirty="0"/>
          </a:p>
        </p:txBody>
      </p:sp>
      <p:pic>
        <p:nvPicPr>
          <p:cNvPr id="8" name="Picture 7">
            <a:extLst>
              <a:ext uri="{FF2B5EF4-FFF2-40B4-BE49-F238E27FC236}">
                <a16:creationId xmlns:a16="http://schemas.microsoft.com/office/drawing/2014/main" id="{48D469D7-FB7B-16D6-6018-E666814BB739}"/>
              </a:ext>
            </a:extLst>
          </p:cNvPr>
          <p:cNvPicPr>
            <a:picLocks noChangeAspect="1"/>
          </p:cNvPicPr>
          <p:nvPr/>
        </p:nvPicPr>
        <p:blipFill>
          <a:blip r:embed="rId3"/>
          <a:stretch>
            <a:fillRect/>
          </a:stretch>
        </p:blipFill>
        <p:spPr>
          <a:xfrm>
            <a:off x="5687772" y="1571623"/>
            <a:ext cx="6462023" cy="5211723"/>
          </a:xfrm>
          <a:prstGeom prst="rect">
            <a:avLst/>
          </a:prstGeom>
        </p:spPr>
      </p:pic>
      <p:sp>
        <p:nvSpPr>
          <p:cNvPr id="10" name="TextBox 9">
            <a:extLst>
              <a:ext uri="{FF2B5EF4-FFF2-40B4-BE49-F238E27FC236}">
                <a16:creationId xmlns:a16="http://schemas.microsoft.com/office/drawing/2014/main" id="{4528CC49-68F9-60EF-9A72-F89C68BE4B13}"/>
              </a:ext>
            </a:extLst>
          </p:cNvPr>
          <p:cNvSpPr txBox="1"/>
          <p:nvPr/>
        </p:nvSpPr>
        <p:spPr>
          <a:xfrm>
            <a:off x="6302136" y="925291"/>
            <a:ext cx="4343400" cy="646331"/>
          </a:xfrm>
          <a:prstGeom prst="rect">
            <a:avLst/>
          </a:prstGeom>
          <a:noFill/>
        </p:spPr>
        <p:txBody>
          <a:bodyPr wrap="square">
            <a:spAutoFit/>
          </a:bodyPr>
          <a:lstStyle/>
          <a:p>
            <a:r>
              <a:rPr lang="en-US" dirty="0"/>
              <a:t>2.Calculate total vs. delayed shipments for each warehouse. </a:t>
            </a:r>
            <a:endParaRPr lang="en-IN" dirty="0"/>
          </a:p>
        </p:txBody>
      </p:sp>
      <p:sp>
        <p:nvSpPr>
          <p:cNvPr id="4" name="TextBox 3">
            <a:extLst>
              <a:ext uri="{FF2B5EF4-FFF2-40B4-BE49-F238E27FC236}">
                <a16:creationId xmlns:a16="http://schemas.microsoft.com/office/drawing/2014/main" id="{A7BA7718-65D7-9D70-E336-EDFC015072E1}"/>
              </a:ext>
            </a:extLst>
          </p:cNvPr>
          <p:cNvSpPr txBox="1"/>
          <p:nvPr/>
        </p:nvSpPr>
        <p:spPr>
          <a:xfrm>
            <a:off x="10576558" y="791464"/>
            <a:ext cx="1573237" cy="584775"/>
          </a:xfrm>
          <a:prstGeom prst="rect">
            <a:avLst/>
          </a:prstGeom>
          <a:noFill/>
        </p:spPr>
        <p:txBody>
          <a:bodyPr wrap="square">
            <a:spAutoFit/>
          </a:bodyPr>
          <a:lstStyle/>
          <a:p>
            <a:r>
              <a:rPr lang="en-IN" sz="3200" b="1" dirty="0">
                <a:solidFill>
                  <a:schemeClr val="bg1"/>
                </a:solidFill>
                <a:latin typeface="+mj-lt"/>
              </a:rPr>
              <a:t>Task 4: </a:t>
            </a:r>
            <a:endParaRPr lang="en-IN" sz="3200" dirty="0">
              <a:solidFill>
                <a:schemeClr val="bg1"/>
              </a:solidFill>
            </a:endParaRPr>
          </a:p>
        </p:txBody>
      </p:sp>
    </p:spTree>
    <p:extLst>
      <p:ext uri="{BB962C8B-B14F-4D97-AF65-F5344CB8AC3E}">
        <p14:creationId xmlns:p14="http://schemas.microsoft.com/office/powerpoint/2010/main" val="1811986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26ECEA-4FCE-CCEE-8F06-230B05F8894B}"/>
              </a:ext>
            </a:extLst>
          </p:cNvPr>
          <p:cNvPicPr>
            <a:picLocks noChangeAspect="1"/>
          </p:cNvPicPr>
          <p:nvPr/>
        </p:nvPicPr>
        <p:blipFill>
          <a:blip r:embed="rId2"/>
          <a:stretch>
            <a:fillRect/>
          </a:stretch>
        </p:blipFill>
        <p:spPr>
          <a:xfrm>
            <a:off x="81402" y="899235"/>
            <a:ext cx="5562600" cy="4729162"/>
          </a:xfrm>
          <a:prstGeom prst="rect">
            <a:avLst/>
          </a:prstGeom>
        </p:spPr>
      </p:pic>
      <p:sp>
        <p:nvSpPr>
          <p:cNvPr id="6" name="TextBox 5">
            <a:extLst>
              <a:ext uri="{FF2B5EF4-FFF2-40B4-BE49-F238E27FC236}">
                <a16:creationId xmlns:a16="http://schemas.microsoft.com/office/drawing/2014/main" id="{8F1F6FCE-4C8B-FA5A-F0EC-B97CE954C9FD}"/>
              </a:ext>
            </a:extLst>
          </p:cNvPr>
          <p:cNvSpPr txBox="1"/>
          <p:nvPr/>
        </p:nvSpPr>
        <p:spPr>
          <a:xfrm>
            <a:off x="235744" y="6015038"/>
            <a:ext cx="6100762" cy="646331"/>
          </a:xfrm>
          <a:prstGeom prst="rect">
            <a:avLst/>
          </a:prstGeom>
          <a:noFill/>
        </p:spPr>
        <p:txBody>
          <a:bodyPr wrap="square">
            <a:spAutoFit/>
          </a:bodyPr>
          <a:lstStyle/>
          <a:p>
            <a:r>
              <a:rPr lang="en-US" dirty="0"/>
              <a:t>3.Use CTEs to find bottleneck warehouses where processing time &gt; global average. </a:t>
            </a:r>
            <a:endParaRPr lang="en-IN" dirty="0"/>
          </a:p>
        </p:txBody>
      </p:sp>
      <p:sp>
        <p:nvSpPr>
          <p:cNvPr id="8" name="TextBox 7">
            <a:extLst>
              <a:ext uri="{FF2B5EF4-FFF2-40B4-BE49-F238E27FC236}">
                <a16:creationId xmlns:a16="http://schemas.microsoft.com/office/drawing/2014/main" id="{4FE7D97D-7CDF-2B26-7785-6836AF4E62C9}"/>
              </a:ext>
            </a:extLst>
          </p:cNvPr>
          <p:cNvSpPr txBox="1"/>
          <p:nvPr/>
        </p:nvSpPr>
        <p:spPr>
          <a:xfrm>
            <a:off x="5862638" y="0"/>
            <a:ext cx="6093618" cy="646331"/>
          </a:xfrm>
          <a:prstGeom prst="rect">
            <a:avLst/>
          </a:prstGeom>
          <a:noFill/>
        </p:spPr>
        <p:txBody>
          <a:bodyPr wrap="square">
            <a:spAutoFit/>
          </a:bodyPr>
          <a:lstStyle/>
          <a:p>
            <a:r>
              <a:rPr lang="en-US" dirty="0"/>
              <a:t>4.Rank warehouses based on on-time delivery percentage. </a:t>
            </a:r>
            <a:endParaRPr lang="en-IN" dirty="0"/>
          </a:p>
        </p:txBody>
      </p:sp>
      <p:sp>
        <p:nvSpPr>
          <p:cNvPr id="9" name="Arrow: Up 8">
            <a:extLst>
              <a:ext uri="{FF2B5EF4-FFF2-40B4-BE49-F238E27FC236}">
                <a16:creationId xmlns:a16="http://schemas.microsoft.com/office/drawing/2014/main" id="{370BB235-001C-D259-E3AF-1F0D5943B95A}"/>
              </a:ext>
            </a:extLst>
          </p:cNvPr>
          <p:cNvSpPr/>
          <p:nvPr/>
        </p:nvSpPr>
        <p:spPr>
          <a:xfrm>
            <a:off x="3043238" y="5628397"/>
            <a:ext cx="357187" cy="42862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Down 9">
            <a:extLst>
              <a:ext uri="{FF2B5EF4-FFF2-40B4-BE49-F238E27FC236}">
                <a16:creationId xmlns:a16="http://schemas.microsoft.com/office/drawing/2014/main" id="{0FAFB595-8F71-79ED-0EA9-33418DB4BFD5}"/>
              </a:ext>
            </a:extLst>
          </p:cNvPr>
          <p:cNvSpPr/>
          <p:nvPr/>
        </p:nvSpPr>
        <p:spPr>
          <a:xfrm>
            <a:off x="8301038" y="414338"/>
            <a:ext cx="328612" cy="4286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29CDD6A-BD7F-607A-5BC5-2B092E6951A1}"/>
              </a:ext>
            </a:extLst>
          </p:cNvPr>
          <p:cNvSpPr txBox="1"/>
          <p:nvPr/>
        </p:nvSpPr>
        <p:spPr>
          <a:xfrm>
            <a:off x="5981700" y="5519169"/>
            <a:ext cx="6100762" cy="1200329"/>
          </a:xfrm>
          <a:prstGeom prst="rect">
            <a:avLst/>
          </a:prstGeom>
          <a:noFill/>
        </p:spPr>
        <p:txBody>
          <a:bodyPr wrap="square">
            <a:spAutoFit/>
          </a:bodyPr>
          <a:lstStyle/>
          <a:p>
            <a:r>
              <a:rPr lang="en-US" i="1" dirty="0">
                <a:solidFill>
                  <a:srgbClr val="FFFF00"/>
                </a:solidFill>
              </a:rPr>
              <a:t>Warehouses were ranked based on on-time delivery percentage using window functions, without joining additional tables since </a:t>
            </a:r>
            <a:r>
              <a:rPr lang="en-US" i="1" dirty="0" err="1">
                <a:solidFill>
                  <a:srgbClr val="FFFF00"/>
                </a:solidFill>
              </a:rPr>
              <a:t>Warehouse_ID</a:t>
            </a:r>
            <a:r>
              <a:rPr lang="en-US" i="1" dirty="0">
                <a:solidFill>
                  <a:srgbClr val="FFFF00"/>
                </a:solidFill>
              </a:rPr>
              <a:t> was available in the Orders table.</a:t>
            </a:r>
            <a:endParaRPr lang="en-IN" i="1" dirty="0">
              <a:solidFill>
                <a:srgbClr val="FFFF00"/>
              </a:solidFill>
            </a:endParaRPr>
          </a:p>
        </p:txBody>
      </p:sp>
      <p:pic>
        <p:nvPicPr>
          <p:cNvPr id="14" name="Picture 13">
            <a:extLst>
              <a:ext uri="{FF2B5EF4-FFF2-40B4-BE49-F238E27FC236}">
                <a16:creationId xmlns:a16="http://schemas.microsoft.com/office/drawing/2014/main" id="{9ED9EF56-4A11-9B41-1038-8434BED7A20A}"/>
              </a:ext>
            </a:extLst>
          </p:cNvPr>
          <p:cNvPicPr>
            <a:picLocks noChangeAspect="1"/>
          </p:cNvPicPr>
          <p:nvPr/>
        </p:nvPicPr>
        <p:blipFill>
          <a:blip r:embed="rId3"/>
          <a:stretch>
            <a:fillRect/>
          </a:stretch>
        </p:blipFill>
        <p:spPr>
          <a:xfrm>
            <a:off x="5745517" y="857251"/>
            <a:ext cx="6365081" cy="4661918"/>
          </a:xfrm>
          <a:prstGeom prst="rect">
            <a:avLst/>
          </a:prstGeom>
        </p:spPr>
      </p:pic>
      <p:sp>
        <p:nvSpPr>
          <p:cNvPr id="16" name="TextBox 15">
            <a:extLst>
              <a:ext uri="{FF2B5EF4-FFF2-40B4-BE49-F238E27FC236}">
                <a16:creationId xmlns:a16="http://schemas.microsoft.com/office/drawing/2014/main" id="{70F9262C-7355-B87D-75E8-918A92877A64}"/>
              </a:ext>
            </a:extLst>
          </p:cNvPr>
          <p:cNvSpPr txBox="1"/>
          <p:nvPr/>
        </p:nvSpPr>
        <p:spPr>
          <a:xfrm>
            <a:off x="-35719" y="0"/>
            <a:ext cx="5743575" cy="923330"/>
          </a:xfrm>
          <a:prstGeom prst="rect">
            <a:avLst/>
          </a:prstGeom>
          <a:noFill/>
        </p:spPr>
        <p:txBody>
          <a:bodyPr wrap="square">
            <a:spAutoFit/>
          </a:bodyPr>
          <a:lstStyle/>
          <a:p>
            <a:r>
              <a:rPr lang="en-US" i="1" dirty="0">
                <a:solidFill>
                  <a:srgbClr val="FFFF00"/>
                </a:solidFill>
              </a:rPr>
              <a:t>Bottleneck warehouses were identified using a CTE by comparing average delivery time per warehouse with the global average.</a:t>
            </a:r>
            <a:endParaRPr lang="en-IN" i="1" dirty="0">
              <a:solidFill>
                <a:srgbClr val="FFFF00"/>
              </a:solidFill>
            </a:endParaRPr>
          </a:p>
        </p:txBody>
      </p:sp>
    </p:spTree>
    <p:extLst>
      <p:ext uri="{BB962C8B-B14F-4D97-AF65-F5344CB8AC3E}">
        <p14:creationId xmlns:p14="http://schemas.microsoft.com/office/powerpoint/2010/main" val="1493343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8C0781-A0A1-C885-B52E-EDE199AFF4A9}"/>
              </a:ext>
            </a:extLst>
          </p:cNvPr>
          <p:cNvPicPr>
            <a:picLocks noChangeAspect="1"/>
          </p:cNvPicPr>
          <p:nvPr/>
        </p:nvPicPr>
        <p:blipFill>
          <a:blip r:embed="rId2"/>
          <a:stretch>
            <a:fillRect/>
          </a:stretch>
        </p:blipFill>
        <p:spPr>
          <a:xfrm>
            <a:off x="70340" y="1818657"/>
            <a:ext cx="5978769" cy="4104949"/>
          </a:xfrm>
          <a:prstGeom prst="rect">
            <a:avLst/>
          </a:prstGeom>
        </p:spPr>
      </p:pic>
      <p:sp>
        <p:nvSpPr>
          <p:cNvPr id="5" name="TextBox 4">
            <a:extLst>
              <a:ext uri="{FF2B5EF4-FFF2-40B4-BE49-F238E27FC236}">
                <a16:creationId xmlns:a16="http://schemas.microsoft.com/office/drawing/2014/main" id="{842DABF7-B1E2-9950-F71E-BE1C6957BB58}"/>
              </a:ext>
            </a:extLst>
          </p:cNvPr>
          <p:cNvSpPr txBox="1"/>
          <p:nvPr/>
        </p:nvSpPr>
        <p:spPr>
          <a:xfrm>
            <a:off x="2382" y="5934670"/>
            <a:ext cx="6093618" cy="923330"/>
          </a:xfrm>
          <a:prstGeom prst="rect">
            <a:avLst/>
          </a:prstGeom>
          <a:noFill/>
        </p:spPr>
        <p:txBody>
          <a:bodyPr wrap="square">
            <a:spAutoFit/>
          </a:bodyPr>
          <a:lstStyle/>
          <a:p>
            <a:pPr>
              <a:buNone/>
            </a:pPr>
            <a:r>
              <a:rPr lang="en-US" i="1" dirty="0">
                <a:solidFill>
                  <a:srgbClr val="FFFF00"/>
                </a:solidFill>
              </a:rPr>
              <a:t>Agent performance was evaluated by linking agents to routes and calculating on-time delivery percentage per route.</a:t>
            </a:r>
          </a:p>
        </p:txBody>
      </p:sp>
      <p:sp>
        <p:nvSpPr>
          <p:cNvPr id="7" name="TextBox 6">
            <a:extLst>
              <a:ext uri="{FF2B5EF4-FFF2-40B4-BE49-F238E27FC236}">
                <a16:creationId xmlns:a16="http://schemas.microsoft.com/office/drawing/2014/main" id="{E55B8CAB-02F5-00F2-7D0D-A58F16FEBBE6}"/>
              </a:ext>
            </a:extLst>
          </p:cNvPr>
          <p:cNvSpPr txBox="1"/>
          <p:nvPr/>
        </p:nvSpPr>
        <p:spPr>
          <a:xfrm>
            <a:off x="4020741" y="0"/>
            <a:ext cx="6093618" cy="461665"/>
          </a:xfrm>
          <a:prstGeom prst="rect">
            <a:avLst/>
          </a:prstGeom>
          <a:noFill/>
        </p:spPr>
        <p:txBody>
          <a:bodyPr wrap="square">
            <a:spAutoFit/>
          </a:bodyPr>
          <a:lstStyle/>
          <a:p>
            <a:r>
              <a:rPr lang="en-US" sz="2400" b="1" dirty="0">
                <a:solidFill>
                  <a:schemeClr val="accent5">
                    <a:lumMod val="40000"/>
                    <a:lumOff val="60000"/>
                  </a:schemeClr>
                </a:solidFill>
              </a:rPr>
              <a:t>Delivery Agent Performance</a:t>
            </a:r>
            <a:endParaRPr lang="en-IN" sz="2400" b="1" dirty="0">
              <a:solidFill>
                <a:schemeClr val="accent5">
                  <a:lumMod val="40000"/>
                  <a:lumOff val="60000"/>
                </a:schemeClr>
              </a:solidFill>
            </a:endParaRPr>
          </a:p>
        </p:txBody>
      </p:sp>
      <p:sp>
        <p:nvSpPr>
          <p:cNvPr id="9" name="TextBox 8">
            <a:extLst>
              <a:ext uri="{FF2B5EF4-FFF2-40B4-BE49-F238E27FC236}">
                <a16:creationId xmlns:a16="http://schemas.microsoft.com/office/drawing/2014/main" id="{4C471C7D-D7F7-C4BB-7E5B-5638A30E4A9F}"/>
              </a:ext>
            </a:extLst>
          </p:cNvPr>
          <p:cNvSpPr txBox="1"/>
          <p:nvPr/>
        </p:nvSpPr>
        <p:spPr>
          <a:xfrm>
            <a:off x="2382" y="948461"/>
            <a:ext cx="6093618" cy="646331"/>
          </a:xfrm>
          <a:prstGeom prst="rect">
            <a:avLst/>
          </a:prstGeom>
          <a:noFill/>
        </p:spPr>
        <p:txBody>
          <a:bodyPr wrap="square">
            <a:spAutoFit/>
          </a:bodyPr>
          <a:lstStyle/>
          <a:p>
            <a:r>
              <a:rPr lang="en-US" dirty="0"/>
              <a:t>1.Rank agents (per route) by on-time delivery percentage</a:t>
            </a:r>
            <a:endParaRPr lang="en-IN" dirty="0"/>
          </a:p>
        </p:txBody>
      </p:sp>
      <p:sp>
        <p:nvSpPr>
          <p:cNvPr id="10" name="Arrow: Down 9">
            <a:extLst>
              <a:ext uri="{FF2B5EF4-FFF2-40B4-BE49-F238E27FC236}">
                <a16:creationId xmlns:a16="http://schemas.microsoft.com/office/drawing/2014/main" id="{DDD8CDFF-BEEC-91CE-EB22-CF92AD01B993}"/>
              </a:ext>
            </a:extLst>
          </p:cNvPr>
          <p:cNvSpPr/>
          <p:nvPr/>
        </p:nvSpPr>
        <p:spPr>
          <a:xfrm>
            <a:off x="2614613" y="1428750"/>
            <a:ext cx="328612" cy="3758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2A5B314F-DF49-ACD1-7A84-E623C7EA3F24}"/>
              </a:ext>
            </a:extLst>
          </p:cNvPr>
          <p:cNvPicPr>
            <a:picLocks noChangeAspect="1"/>
          </p:cNvPicPr>
          <p:nvPr/>
        </p:nvPicPr>
        <p:blipFill>
          <a:blip r:embed="rId3"/>
          <a:stretch>
            <a:fillRect/>
          </a:stretch>
        </p:blipFill>
        <p:spPr>
          <a:xfrm>
            <a:off x="6135822" y="1818658"/>
            <a:ext cx="5978769" cy="4933836"/>
          </a:xfrm>
          <a:prstGeom prst="rect">
            <a:avLst/>
          </a:prstGeom>
        </p:spPr>
      </p:pic>
      <p:sp>
        <p:nvSpPr>
          <p:cNvPr id="14" name="TextBox 13">
            <a:extLst>
              <a:ext uri="{FF2B5EF4-FFF2-40B4-BE49-F238E27FC236}">
                <a16:creationId xmlns:a16="http://schemas.microsoft.com/office/drawing/2014/main" id="{CCFC4FE3-17BB-9CA4-0061-A49AED120872}"/>
              </a:ext>
            </a:extLst>
          </p:cNvPr>
          <p:cNvSpPr txBox="1"/>
          <p:nvPr/>
        </p:nvSpPr>
        <p:spPr>
          <a:xfrm>
            <a:off x="6519862" y="1059418"/>
            <a:ext cx="4910138" cy="369332"/>
          </a:xfrm>
          <a:prstGeom prst="rect">
            <a:avLst/>
          </a:prstGeom>
          <a:noFill/>
        </p:spPr>
        <p:txBody>
          <a:bodyPr wrap="square">
            <a:spAutoFit/>
          </a:bodyPr>
          <a:lstStyle/>
          <a:p>
            <a:r>
              <a:rPr lang="en-US" dirty="0"/>
              <a:t>2.Find agents with on-time % &lt; 80%.</a:t>
            </a:r>
            <a:endParaRPr lang="en-IN" dirty="0"/>
          </a:p>
        </p:txBody>
      </p:sp>
      <p:sp>
        <p:nvSpPr>
          <p:cNvPr id="15" name="Arrow: Down 14">
            <a:extLst>
              <a:ext uri="{FF2B5EF4-FFF2-40B4-BE49-F238E27FC236}">
                <a16:creationId xmlns:a16="http://schemas.microsoft.com/office/drawing/2014/main" id="{76533B3B-1AFD-3DC7-8849-CD1181FF5C35}"/>
              </a:ext>
            </a:extLst>
          </p:cNvPr>
          <p:cNvSpPr/>
          <p:nvPr/>
        </p:nvSpPr>
        <p:spPr>
          <a:xfrm>
            <a:off x="9986963" y="1428750"/>
            <a:ext cx="328612"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74C488A-841C-10F8-EA6C-8027A0525F33}"/>
              </a:ext>
            </a:extLst>
          </p:cNvPr>
          <p:cNvSpPr txBox="1"/>
          <p:nvPr/>
        </p:nvSpPr>
        <p:spPr>
          <a:xfrm>
            <a:off x="10618030" y="820886"/>
            <a:ext cx="1623939" cy="584775"/>
          </a:xfrm>
          <a:prstGeom prst="rect">
            <a:avLst/>
          </a:prstGeom>
          <a:noFill/>
        </p:spPr>
        <p:txBody>
          <a:bodyPr wrap="square">
            <a:spAutoFit/>
          </a:bodyPr>
          <a:lstStyle/>
          <a:p>
            <a:r>
              <a:rPr lang="en-US" sz="3200" b="1" dirty="0">
                <a:solidFill>
                  <a:schemeClr val="bg1"/>
                </a:solidFill>
              </a:rPr>
              <a:t>Task 5:</a:t>
            </a:r>
            <a:endParaRPr lang="en-IN" sz="3200" dirty="0">
              <a:solidFill>
                <a:schemeClr val="bg1"/>
              </a:solidFill>
            </a:endParaRPr>
          </a:p>
        </p:txBody>
      </p:sp>
    </p:spTree>
    <p:extLst>
      <p:ext uri="{BB962C8B-B14F-4D97-AF65-F5344CB8AC3E}">
        <p14:creationId xmlns:p14="http://schemas.microsoft.com/office/powerpoint/2010/main" val="3372344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848E9E-7854-06FD-0DDB-7C06F9E87A50}"/>
              </a:ext>
            </a:extLst>
          </p:cNvPr>
          <p:cNvSpPr txBox="1"/>
          <p:nvPr/>
        </p:nvSpPr>
        <p:spPr>
          <a:xfrm>
            <a:off x="6756601" y="3773454"/>
            <a:ext cx="5435399" cy="2308324"/>
          </a:xfrm>
          <a:prstGeom prst="rect">
            <a:avLst/>
          </a:prstGeom>
          <a:noFill/>
        </p:spPr>
        <p:txBody>
          <a:bodyPr wrap="square">
            <a:spAutoFit/>
          </a:bodyPr>
          <a:lstStyle/>
          <a:p>
            <a:pPr>
              <a:buNone/>
            </a:pPr>
            <a:r>
              <a:rPr lang="en-US" b="1" dirty="0">
                <a:solidFill>
                  <a:srgbClr val="FFFF00"/>
                </a:solidFill>
              </a:rPr>
              <a:t>Insight</a:t>
            </a:r>
          </a:p>
          <a:p>
            <a:pPr>
              <a:buNone/>
            </a:pPr>
            <a:r>
              <a:rPr lang="en-US" dirty="0">
                <a:solidFill>
                  <a:srgbClr val="FFFF00"/>
                </a:solidFill>
              </a:rPr>
              <a:t>Top-performing agents are significantly faster than bottom-performing agents, indicating a large performance gap.</a:t>
            </a:r>
          </a:p>
          <a:p>
            <a:pPr>
              <a:buNone/>
            </a:pPr>
            <a:r>
              <a:rPr lang="en-US" b="1" dirty="0">
                <a:solidFill>
                  <a:srgbClr val="FFFF00"/>
                </a:solidFill>
              </a:rPr>
              <a:t>🔹 Recommendation</a:t>
            </a:r>
          </a:p>
          <a:p>
            <a:pPr>
              <a:buFont typeface="Arial" panose="020B0604020202020204" pitchFamily="34" charset="0"/>
              <a:buChar char="•"/>
            </a:pPr>
            <a:r>
              <a:rPr lang="en-US" dirty="0">
                <a:solidFill>
                  <a:srgbClr val="FFFF00"/>
                </a:solidFill>
              </a:rPr>
              <a:t>Assign </a:t>
            </a:r>
            <a:r>
              <a:rPr lang="en-US" b="1" dirty="0">
                <a:solidFill>
                  <a:srgbClr val="FFFF00"/>
                </a:solidFill>
              </a:rPr>
              <a:t>better routes to low-performing agents</a:t>
            </a:r>
            <a:endParaRPr lang="en-US" dirty="0">
              <a:solidFill>
                <a:srgbClr val="FFFF00"/>
              </a:solidFill>
            </a:endParaRPr>
          </a:p>
          <a:p>
            <a:pPr>
              <a:buFont typeface="Arial" panose="020B0604020202020204" pitchFamily="34" charset="0"/>
              <a:buChar char="•"/>
            </a:pPr>
            <a:r>
              <a:rPr lang="en-US" dirty="0">
                <a:solidFill>
                  <a:srgbClr val="FFFF00"/>
                </a:solidFill>
              </a:rPr>
              <a:t>Provide </a:t>
            </a:r>
            <a:r>
              <a:rPr lang="en-US" b="1" dirty="0">
                <a:solidFill>
                  <a:srgbClr val="FFFF00"/>
                </a:solidFill>
              </a:rPr>
              <a:t>training or monitoring</a:t>
            </a:r>
            <a:endParaRPr lang="en-US" dirty="0">
              <a:solidFill>
                <a:srgbClr val="FFFF00"/>
              </a:solidFill>
            </a:endParaRPr>
          </a:p>
          <a:p>
            <a:pPr>
              <a:buFont typeface="Arial" panose="020B0604020202020204" pitchFamily="34" charset="0"/>
              <a:buChar char="•"/>
            </a:pPr>
            <a:r>
              <a:rPr lang="en-US" dirty="0">
                <a:solidFill>
                  <a:srgbClr val="FFFF00"/>
                </a:solidFill>
              </a:rPr>
              <a:t>Optimize </a:t>
            </a:r>
            <a:r>
              <a:rPr lang="en-US" b="1" dirty="0">
                <a:solidFill>
                  <a:srgbClr val="FFFF00"/>
                </a:solidFill>
              </a:rPr>
              <a:t>slow routes</a:t>
            </a:r>
            <a:endParaRPr lang="en-US" dirty="0">
              <a:solidFill>
                <a:srgbClr val="FFFF00"/>
              </a:solidFill>
            </a:endParaRPr>
          </a:p>
        </p:txBody>
      </p:sp>
      <p:sp>
        <p:nvSpPr>
          <p:cNvPr id="6" name="TextBox 5">
            <a:extLst>
              <a:ext uri="{FF2B5EF4-FFF2-40B4-BE49-F238E27FC236}">
                <a16:creationId xmlns:a16="http://schemas.microsoft.com/office/drawing/2014/main" id="{94AE9357-E025-DDD0-013D-AF5A7B5AE0E6}"/>
              </a:ext>
            </a:extLst>
          </p:cNvPr>
          <p:cNvSpPr txBox="1"/>
          <p:nvPr/>
        </p:nvSpPr>
        <p:spPr>
          <a:xfrm>
            <a:off x="1240630" y="6243619"/>
            <a:ext cx="10663239" cy="369332"/>
          </a:xfrm>
          <a:prstGeom prst="rect">
            <a:avLst/>
          </a:prstGeom>
          <a:noFill/>
        </p:spPr>
        <p:txBody>
          <a:bodyPr wrap="square">
            <a:spAutoFit/>
          </a:bodyPr>
          <a:lstStyle/>
          <a:p>
            <a:r>
              <a:rPr lang="en-US" i="1" dirty="0">
                <a:solidFill>
                  <a:schemeClr val="accent4">
                    <a:lumMod val="20000"/>
                    <a:lumOff val="80000"/>
                  </a:schemeClr>
                </a:solidFill>
              </a:rPr>
              <a:t>The large variation in speed suggests that route conditions or agent efficiency differ significantly.</a:t>
            </a:r>
            <a:endParaRPr lang="en-IN" i="1" dirty="0">
              <a:solidFill>
                <a:schemeClr val="accent4">
                  <a:lumMod val="20000"/>
                  <a:lumOff val="80000"/>
                </a:schemeClr>
              </a:solidFill>
            </a:endParaRPr>
          </a:p>
        </p:txBody>
      </p:sp>
      <p:sp>
        <p:nvSpPr>
          <p:cNvPr id="10" name="TextBox 9">
            <a:extLst>
              <a:ext uri="{FF2B5EF4-FFF2-40B4-BE49-F238E27FC236}">
                <a16:creationId xmlns:a16="http://schemas.microsoft.com/office/drawing/2014/main" id="{8F4762C4-4BA5-7042-6273-2F0732DB7F2D}"/>
              </a:ext>
            </a:extLst>
          </p:cNvPr>
          <p:cNvSpPr txBox="1"/>
          <p:nvPr/>
        </p:nvSpPr>
        <p:spPr>
          <a:xfrm>
            <a:off x="392906" y="0"/>
            <a:ext cx="6179344" cy="646331"/>
          </a:xfrm>
          <a:prstGeom prst="rect">
            <a:avLst/>
          </a:prstGeom>
          <a:noFill/>
        </p:spPr>
        <p:txBody>
          <a:bodyPr wrap="square">
            <a:spAutoFit/>
          </a:bodyPr>
          <a:lstStyle/>
          <a:p>
            <a:r>
              <a:rPr lang="en-US" dirty="0"/>
              <a:t>3.Compare average speed of top 5 vs bottom 5 agents using subqueries.</a:t>
            </a:r>
            <a:endParaRPr lang="en-IN" dirty="0"/>
          </a:p>
        </p:txBody>
      </p:sp>
      <p:sp>
        <p:nvSpPr>
          <p:cNvPr id="11" name="Arrow: Down 10">
            <a:extLst>
              <a:ext uri="{FF2B5EF4-FFF2-40B4-BE49-F238E27FC236}">
                <a16:creationId xmlns:a16="http://schemas.microsoft.com/office/drawing/2014/main" id="{C8A13F91-30C8-8BB1-E106-A7297DBAC50E}"/>
              </a:ext>
            </a:extLst>
          </p:cNvPr>
          <p:cNvSpPr/>
          <p:nvPr/>
        </p:nvSpPr>
        <p:spPr>
          <a:xfrm>
            <a:off x="3757613" y="471488"/>
            <a:ext cx="300037" cy="3714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6C58774B-730E-193C-5ADA-CACCC8A12538}"/>
              </a:ext>
            </a:extLst>
          </p:cNvPr>
          <p:cNvPicPr>
            <a:picLocks noChangeAspect="1"/>
          </p:cNvPicPr>
          <p:nvPr/>
        </p:nvPicPr>
        <p:blipFill>
          <a:blip r:embed="rId2"/>
          <a:stretch>
            <a:fillRect/>
          </a:stretch>
        </p:blipFill>
        <p:spPr>
          <a:xfrm>
            <a:off x="6939566" y="1720651"/>
            <a:ext cx="2133898" cy="1181265"/>
          </a:xfrm>
          <a:prstGeom prst="rect">
            <a:avLst/>
          </a:prstGeom>
        </p:spPr>
      </p:pic>
      <p:pic>
        <p:nvPicPr>
          <p:cNvPr id="15" name="Picture 14">
            <a:extLst>
              <a:ext uri="{FF2B5EF4-FFF2-40B4-BE49-F238E27FC236}">
                <a16:creationId xmlns:a16="http://schemas.microsoft.com/office/drawing/2014/main" id="{43D4EDDC-7925-B70D-C3DB-23870535F6E6}"/>
              </a:ext>
            </a:extLst>
          </p:cNvPr>
          <p:cNvPicPr>
            <a:picLocks noChangeAspect="1"/>
          </p:cNvPicPr>
          <p:nvPr/>
        </p:nvPicPr>
        <p:blipFill>
          <a:blip r:embed="rId3"/>
          <a:stretch>
            <a:fillRect/>
          </a:stretch>
        </p:blipFill>
        <p:spPr>
          <a:xfrm>
            <a:off x="9807052" y="1675609"/>
            <a:ext cx="2286319" cy="1181265"/>
          </a:xfrm>
          <a:prstGeom prst="rect">
            <a:avLst/>
          </a:prstGeom>
        </p:spPr>
      </p:pic>
      <p:pic>
        <p:nvPicPr>
          <p:cNvPr id="17" name="Picture 16">
            <a:extLst>
              <a:ext uri="{FF2B5EF4-FFF2-40B4-BE49-F238E27FC236}">
                <a16:creationId xmlns:a16="http://schemas.microsoft.com/office/drawing/2014/main" id="{1B2CCFC9-8258-279C-1CA1-1B23A4A7CFEB}"/>
              </a:ext>
            </a:extLst>
          </p:cNvPr>
          <p:cNvPicPr>
            <a:picLocks noChangeAspect="1"/>
          </p:cNvPicPr>
          <p:nvPr/>
        </p:nvPicPr>
        <p:blipFill>
          <a:blip r:embed="rId4"/>
          <a:stretch>
            <a:fillRect/>
          </a:stretch>
        </p:blipFill>
        <p:spPr>
          <a:xfrm>
            <a:off x="8020583" y="471488"/>
            <a:ext cx="2524477" cy="647790"/>
          </a:xfrm>
          <a:prstGeom prst="rect">
            <a:avLst/>
          </a:prstGeom>
        </p:spPr>
      </p:pic>
      <p:cxnSp>
        <p:nvCxnSpPr>
          <p:cNvPr id="20" name="Straight Arrow Connector 19">
            <a:extLst>
              <a:ext uri="{FF2B5EF4-FFF2-40B4-BE49-F238E27FC236}">
                <a16:creationId xmlns:a16="http://schemas.microsoft.com/office/drawing/2014/main" id="{0F5726F8-5293-EEB8-BC81-CD58F5EAC305}"/>
              </a:ext>
            </a:extLst>
          </p:cNvPr>
          <p:cNvCxnSpPr/>
          <p:nvPr/>
        </p:nvCxnSpPr>
        <p:spPr>
          <a:xfrm>
            <a:off x="9372600" y="1243013"/>
            <a:ext cx="700088" cy="342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B4FA431-108D-8C4F-EB82-46D8E040D072}"/>
              </a:ext>
            </a:extLst>
          </p:cNvPr>
          <p:cNvCxnSpPr/>
          <p:nvPr/>
        </p:nvCxnSpPr>
        <p:spPr>
          <a:xfrm flipH="1">
            <a:off x="8858250" y="1243013"/>
            <a:ext cx="514350" cy="342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a16="http://schemas.microsoft.com/office/drawing/2014/main" id="{F8E606A4-DD1E-8984-57E6-E3E2CC9600EE}"/>
              </a:ext>
            </a:extLst>
          </p:cNvPr>
          <p:cNvSpPr/>
          <p:nvPr/>
        </p:nvSpPr>
        <p:spPr>
          <a:xfrm>
            <a:off x="6835376" y="814516"/>
            <a:ext cx="965599" cy="2724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EA28AC4A-8C2A-5604-CD59-DF28265512AA}"/>
              </a:ext>
            </a:extLst>
          </p:cNvPr>
          <p:cNvPicPr>
            <a:picLocks noChangeAspect="1"/>
          </p:cNvPicPr>
          <p:nvPr/>
        </p:nvPicPr>
        <p:blipFill>
          <a:blip r:embed="rId5"/>
          <a:stretch>
            <a:fillRect/>
          </a:stretch>
        </p:blipFill>
        <p:spPr>
          <a:xfrm>
            <a:off x="84408" y="842962"/>
            <a:ext cx="6657972" cy="5400657"/>
          </a:xfrm>
          <a:prstGeom prst="rect">
            <a:avLst/>
          </a:prstGeom>
        </p:spPr>
      </p:pic>
    </p:spTree>
    <p:extLst>
      <p:ext uri="{BB962C8B-B14F-4D97-AF65-F5344CB8AC3E}">
        <p14:creationId xmlns:p14="http://schemas.microsoft.com/office/powerpoint/2010/main" val="3350245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00D0AC-2423-3292-852C-934D4787AFAB}"/>
              </a:ext>
            </a:extLst>
          </p:cNvPr>
          <p:cNvSpPr txBox="1"/>
          <p:nvPr/>
        </p:nvSpPr>
        <p:spPr>
          <a:xfrm>
            <a:off x="4295178" y="60542"/>
            <a:ext cx="4032648" cy="461665"/>
          </a:xfrm>
          <a:prstGeom prst="rect">
            <a:avLst/>
          </a:prstGeom>
          <a:noFill/>
        </p:spPr>
        <p:txBody>
          <a:bodyPr wrap="square">
            <a:spAutoFit/>
          </a:bodyPr>
          <a:lstStyle/>
          <a:p>
            <a:pPr algn="ctr"/>
            <a:r>
              <a:rPr lang="en-US" sz="2400" dirty="0">
                <a:solidFill>
                  <a:schemeClr val="accent5">
                    <a:lumMod val="40000"/>
                    <a:lumOff val="60000"/>
                  </a:schemeClr>
                </a:solidFill>
              </a:rPr>
              <a:t>Shipment Tracking Analytics </a:t>
            </a:r>
            <a:endParaRPr lang="en-IN" sz="2400" dirty="0">
              <a:solidFill>
                <a:schemeClr val="accent5">
                  <a:lumMod val="40000"/>
                  <a:lumOff val="60000"/>
                </a:schemeClr>
              </a:solidFill>
            </a:endParaRPr>
          </a:p>
        </p:txBody>
      </p:sp>
      <p:sp>
        <p:nvSpPr>
          <p:cNvPr id="5" name="TextBox 4">
            <a:extLst>
              <a:ext uri="{FF2B5EF4-FFF2-40B4-BE49-F238E27FC236}">
                <a16:creationId xmlns:a16="http://schemas.microsoft.com/office/drawing/2014/main" id="{8E3F9813-E990-C0F3-616C-EEEA36DAFEF3}"/>
              </a:ext>
            </a:extLst>
          </p:cNvPr>
          <p:cNvSpPr txBox="1"/>
          <p:nvPr/>
        </p:nvSpPr>
        <p:spPr>
          <a:xfrm>
            <a:off x="217885" y="701159"/>
            <a:ext cx="6093618" cy="369332"/>
          </a:xfrm>
          <a:prstGeom prst="rect">
            <a:avLst/>
          </a:prstGeom>
          <a:noFill/>
        </p:spPr>
        <p:txBody>
          <a:bodyPr wrap="square">
            <a:spAutoFit/>
          </a:bodyPr>
          <a:lstStyle/>
          <a:p>
            <a:r>
              <a:rPr lang="en-US" dirty="0"/>
              <a:t>1.For each order, list the last checkpoint and time. </a:t>
            </a:r>
            <a:endParaRPr lang="en-IN" dirty="0"/>
          </a:p>
        </p:txBody>
      </p:sp>
      <p:pic>
        <p:nvPicPr>
          <p:cNvPr id="7" name="Picture 6">
            <a:extLst>
              <a:ext uri="{FF2B5EF4-FFF2-40B4-BE49-F238E27FC236}">
                <a16:creationId xmlns:a16="http://schemas.microsoft.com/office/drawing/2014/main" id="{4C29FCFD-83E6-F221-660B-D0659E0C421A}"/>
              </a:ext>
            </a:extLst>
          </p:cNvPr>
          <p:cNvPicPr>
            <a:picLocks noChangeAspect="1"/>
          </p:cNvPicPr>
          <p:nvPr/>
        </p:nvPicPr>
        <p:blipFill>
          <a:blip r:embed="rId2"/>
          <a:stretch>
            <a:fillRect/>
          </a:stretch>
        </p:blipFill>
        <p:spPr>
          <a:xfrm>
            <a:off x="81888" y="1180326"/>
            <a:ext cx="6093618" cy="4914900"/>
          </a:xfrm>
          <a:prstGeom prst="rect">
            <a:avLst/>
          </a:prstGeom>
        </p:spPr>
      </p:pic>
      <p:sp>
        <p:nvSpPr>
          <p:cNvPr id="9" name="TextBox 8">
            <a:extLst>
              <a:ext uri="{FF2B5EF4-FFF2-40B4-BE49-F238E27FC236}">
                <a16:creationId xmlns:a16="http://schemas.microsoft.com/office/drawing/2014/main" id="{6B385EBD-9676-84DA-B40D-03C93EFF6125}"/>
              </a:ext>
            </a:extLst>
          </p:cNvPr>
          <p:cNvSpPr txBox="1"/>
          <p:nvPr/>
        </p:nvSpPr>
        <p:spPr>
          <a:xfrm>
            <a:off x="108942" y="6067723"/>
            <a:ext cx="6093618" cy="646331"/>
          </a:xfrm>
          <a:prstGeom prst="rect">
            <a:avLst/>
          </a:prstGeom>
          <a:noFill/>
        </p:spPr>
        <p:txBody>
          <a:bodyPr wrap="square">
            <a:spAutoFit/>
          </a:bodyPr>
          <a:lstStyle/>
          <a:p>
            <a:r>
              <a:rPr lang="en-US" i="1" dirty="0">
                <a:solidFill>
                  <a:schemeClr val="accent4">
                    <a:lumMod val="40000"/>
                    <a:lumOff val="60000"/>
                  </a:schemeClr>
                </a:solidFill>
              </a:rPr>
              <a:t>The latest checkpoint for each shipment was identified using the maximum checkpoint timestamp.</a:t>
            </a:r>
            <a:endParaRPr lang="en-IN" i="1" dirty="0">
              <a:solidFill>
                <a:schemeClr val="accent4">
                  <a:lumMod val="40000"/>
                  <a:lumOff val="60000"/>
                </a:schemeClr>
              </a:solidFill>
            </a:endParaRPr>
          </a:p>
        </p:txBody>
      </p:sp>
      <p:sp>
        <p:nvSpPr>
          <p:cNvPr id="11" name="TextBox 10">
            <a:extLst>
              <a:ext uri="{FF2B5EF4-FFF2-40B4-BE49-F238E27FC236}">
                <a16:creationId xmlns:a16="http://schemas.microsoft.com/office/drawing/2014/main" id="{A989328B-9C1C-502F-D243-D2A75FA2360F}"/>
              </a:ext>
            </a:extLst>
          </p:cNvPr>
          <p:cNvSpPr txBox="1"/>
          <p:nvPr/>
        </p:nvSpPr>
        <p:spPr>
          <a:xfrm>
            <a:off x="6311502" y="632042"/>
            <a:ext cx="4032648" cy="646331"/>
          </a:xfrm>
          <a:prstGeom prst="rect">
            <a:avLst/>
          </a:prstGeom>
          <a:noFill/>
        </p:spPr>
        <p:txBody>
          <a:bodyPr wrap="square">
            <a:spAutoFit/>
          </a:bodyPr>
          <a:lstStyle/>
          <a:p>
            <a:r>
              <a:rPr lang="en-US" dirty="0"/>
              <a:t>2.Find the most common delay reasons (excluding None)</a:t>
            </a:r>
            <a:endParaRPr lang="en-IN" dirty="0"/>
          </a:p>
        </p:txBody>
      </p:sp>
      <p:pic>
        <p:nvPicPr>
          <p:cNvPr id="13" name="Picture 12">
            <a:extLst>
              <a:ext uri="{FF2B5EF4-FFF2-40B4-BE49-F238E27FC236}">
                <a16:creationId xmlns:a16="http://schemas.microsoft.com/office/drawing/2014/main" id="{B3345D30-DB93-E5EB-CBED-BEF19AB4146E}"/>
              </a:ext>
            </a:extLst>
          </p:cNvPr>
          <p:cNvPicPr>
            <a:picLocks noChangeAspect="1"/>
          </p:cNvPicPr>
          <p:nvPr/>
        </p:nvPicPr>
        <p:blipFill>
          <a:blip r:embed="rId3"/>
          <a:stretch>
            <a:fillRect/>
          </a:stretch>
        </p:blipFill>
        <p:spPr>
          <a:xfrm>
            <a:off x="6229614" y="1229219"/>
            <a:ext cx="5880497" cy="4914901"/>
          </a:xfrm>
          <a:prstGeom prst="rect">
            <a:avLst/>
          </a:prstGeom>
        </p:spPr>
      </p:pic>
      <p:sp>
        <p:nvSpPr>
          <p:cNvPr id="15" name="TextBox 14">
            <a:extLst>
              <a:ext uri="{FF2B5EF4-FFF2-40B4-BE49-F238E27FC236}">
                <a16:creationId xmlns:a16="http://schemas.microsoft.com/office/drawing/2014/main" id="{19DA90B5-7FBB-1484-78CA-605D112A77E0}"/>
              </a:ext>
            </a:extLst>
          </p:cNvPr>
          <p:cNvSpPr txBox="1"/>
          <p:nvPr/>
        </p:nvSpPr>
        <p:spPr>
          <a:xfrm>
            <a:off x="6311502" y="6095226"/>
            <a:ext cx="6200774" cy="646331"/>
          </a:xfrm>
          <a:prstGeom prst="rect">
            <a:avLst/>
          </a:prstGeom>
          <a:noFill/>
        </p:spPr>
        <p:txBody>
          <a:bodyPr wrap="square">
            <a:spAutoFit/>
          </a:bodyPr>
          <a:lstStyle/>
          <a:p>
            <a:r>
              <a:rPr lang="en-US" i="1" dirty="0">
                <a:solidFill>
                  <a:schemeClr val="accent4">
                    <a:lumMod val="40000"/>
                    <a:lumOff val="60000"/>
                  </a:schemeClr>
                </a:solidFill>
              </a:rPr>
              <a:t>Null and non-delay values were excluded to accurately identify the most common delay reasons.</a:t>
            </a:r>
            <a:endParaRPr lang="en-IN" i="1" dirty="0">
              <a:solidFill>
                <a:schemeClr val="accent4">
                  <a:lumMod val="40000"/>
                  <a:lumOff val="60000"/>
                </a:schemeClr>
              </a:solidFill>
            </a:endParaRPr>
          </a:p>
        </p:txBody>
      </p:sp>
      <p:sp>
        <p:nvSpPr>
          <p:cNvPr id="4" name="TextBox 3">
            <a:extLst>
              <a:ext uri="{FF2B5EF4-FFF2-40B4-BE49-F238E27FC236}">
                <a16:creationId xmlns:a16="http://schemas.microsoft.com/office/drawing/2014/main" id="{B2436FC3-630D-2B35-37BF-6339BE0A73C2}"/>
              </a:ext>
            </a:extLst>
          </p:cNvPr>
          <p:cNvSpPr txBox="1"/>
          <p:nvPr/>
        </p:nvSpPr>
        <p:spPr>
          <a:xfrm>
            <a:off x="10644188" y="701159"/>
            <a:ext cx="1465923" cy="584775"/>
          </a:xfrm>
          <a:prstGeom prst="rect">
            <a:avLst/>
          </a:prstGeom>
          <a:noFill/>
        </p:spPr>
        <p:txBody>
          <a:bodyPr wrap="square">
            <a:spAutoFit/>
          </a:bodyPr>
          <a:lstStyle/>
          <a:p>
            <a:r>
              <a:rPr lang="en-US" sz="3200" dirty="0">
                <a:solidFill>
                  <a:schemeClr val="bg1"/>
                </a:solidFill>
              </a:rPr>
              <a:t>Task 6:</a:t>
            </a:r>
            <a:endParaRPr lang="en-IN" sz="3200" dirty="0">
              <a:solidFill>
                <a:schemeClr val="bg1"/>
              </a:solidFill>
            </a:endParaRPr>
          </a:p>
        </p:txBody>
      </p:sp>
    </p:spTree>
    <p:extLst>
      <p:ext uri="{BB962C8B-B14F-4D97-AF65-F5344CB8AC3E}">
        <p14:creationId xmlns:p14="http://schemas.microsoft.com/office/powerpoint/2010/main" val="417590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09EAE5-6F48-29C5-9BC3-8141EC9ED42C}"/>
              </a:ext>
            </a:extLst>
          </p:cNvPr>
          <p:cNvSpPr txBox="1"/>
          <p:nvPr/>
        </p:nvSpPr>
        <p:spPr>
          <a:xfrm>
            <a:off x="175023" y="129659"/>
            <a:ext cx="6093618" cy="369332"/>
          </a:xfrm>
          <a:prstGeom prst="rect">
            <a:avLst/>
          </a:prstGeom>
          <a:noFill/>
        </p:spPr>
        <p:txBody>
          <a:bodyPr wrap="square">
            <a:spAutoFit/>
          </a:bodyPr>
          <a:lstStyle/>
          <a:p>
            <a:r>
              <a:rPr lang="en-US" dirty="0"/>
              <a:t>3.Identify orders with &gt;2 delayed checkpoints </a:t>
            </a:r>
            <a:endParaRPr lang="en-IN" dirty="0"/>
          </a:p>
        </p:txBody>
      </p:sp>
      <p:pic>
        <p:nvPicPr>
          <p:cNvPr id="5" name="Picture 4">
            <a:extLst>
              <a:ext uri="{FF2B5EF4-FFF2-40B4-BE49-F238E27FC236}">
                <a16:creationId xmlns:a16="http://schemas.microsoft.com/office/drawing/2014/main" id="{247D4934-6FCA-00EE-F5A2-F8626EB54A73}"/>
              </a:ext>
            </a:extLst>
          </p:cNvPr>
          <p:cNvPicPr>
            <a:picLocks noChangeAspect="1"/>
          </p:cNvPicPr>
          <p:nvPr/>
        </p:nvPicPr>
        <p:blipFill>
          <a:blip r:embed="rId2"/>
          <a:stretch>
            <a:fillRect/>
          </a:stretch>
        </p:blipFill>
        <p:spPr>
          <a:xfrm>
            <a:off x="54592" y="614363"/>
            <a:ext cx="6268641" cy="6215062"/>
          </a:xfrm>
          <a:prstGeom prst="rect">
            <a:avLst/>
          </a:prstGeom>
        </p:spPr>
      </p:pic>
      <p:sp>
        <p:nvSpPr>
          <p:cNvPr id="7" name="TextBox 6">
            <a:extLst>
              <a:ext uri="{FF2B5EF4-FFF2-40B4-BE49-F238E27FC236}">
                <a16:creationId xmlns:a16="http://schemas.microsoft.com/office/drawing/2014/main" id="{AEF86D9F-CB3D-70B0-CA0C-E45ACA49FBD2}"/>
              </a:ext>
            </a:extLst>
          </p:cNvPr>
          <p:cNvSpPr txBox="1"/>
          <p:nvPr/>
        </p:nvSpPr>
        <p:spPr>
          <a:xfrm>
            <a:off x="6517393" y="2184023"/>
            <a:ext cx="6093618" cy="923330"/>
          </a:xfrm>
          <a:prstGeom prst="rect">
            <a:avLst/>
          </a:prstGeom>
          <a:noFill/>
        </p:spPr>
        <p:txBody>
          <a:bodyPr wrap="square">
            <a:spAutoFit/>
          </a:bodyPr>
          <a:lstStyle/>
          <a:p>
            <a:r>
              <a:rPr lang="en-US" i="1" dirty="0">
                <a:solidFill>
                  <a:schemeClr val="accent4">
                    <a:lumMod val="40000"/>
                    <a:lumOff val="60000"/>
                  </a:schemeClr>
                </a:solidFill>
              </a:rPr>
              <a:t>Orders with more than two delayed checkpoints were identified to highlight shipments with repeated disruptions.</a:t>
            </a:r>
            <a:endParaRPr lang="en-IN" i="1" dirty="0">
              <a:solidFill>
                <a:schemeClr val="accent4">
                  <a:lumMod val="40000"/>
                  <a:lumOff val="60000"/>
                </a:schemeClr>
              </a:solidFill>
            </a:endParaRPr>
          </a:p>
        </p:txBody>
      </p:sp>
      <p:sp>
        <p:nvSpPr>
          <p:cNvPr id="8" name="Rectangle 1">
            <a:extLst>
              <a:ext uri="{FF2B5EF4-FFF2-40B4-BE49-F238E27FC236}">
                <a16:creationId xmlns:a16="http://schemas.microsoft.com/office/drawing/2014/main" id="{98BA641E-1FF6-CE79-CA81-8E867351B972}"/>
              </a:ext>
            </a:extLst>
          </p:cNvPr>
          <p:cNvSpPr>
            <a:spLocks noChangeArrowheads="1"/>
          </p:cNvSpPr>
          <p:nvPr/>
        </p:nvSpPr>
        <p:spPr bwMode="auto">
          <a:xfrm>
            <a:off x="6728346" y="4212312"/>
            <a:ext cx="484175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00"/>
                </a:solidFill>
                <a:effectLst/>
                <a:latin typeface="Arial" panose="020B0604020202020204" pitchFamily="34" charset="0"/>
              </a:rPr>
              <a:t>Identified orders with </a:t>
            </a:r>
            <a:r>
              <a:rPr kumimoji="0" lang="en-US" altLang="en-US" sz="1800" b="1" i="0" u="none" strike="noStrike" cap="none" normalizeH="0" baseline="0">
                <a:ln>
                  <a:noFill/>
                </a:ln>
                <a:solidFill>
                  <a:srgbClr val="FFFF00"/>
                </a:solidFill>
                <a:effectLst/>
                <a:latin typeface="Arial" panose="020B0604020202020204" pitchFamily="34" charset="0"/>
              </a:rPr>
              <a:t>more than 2 delayed checkpoints</a:t>
            </a:r>
            <a:endParaRPr kumimoji="0" lang="en-US" altLang="en-US" sz="1800" b="0" i="0" u="none" strike="noStrike" cap="none" normalizeH="0" baseline="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00"/>
                </a:solidFill>
                <a:effectLst/>
                <a:latin typeface="Arial" panose="020B0604020202020204" pitchFamily="34" charset="0"/>
              </a:rPr>
              <a:t>Delay defined as checkpoints with a valid </a:t>
            </a:r>
            <a:r>
              <a:rPr kumimoji="0" lang="en-US" altLang="en-US" sz="1800" b="1" i="0" u="none" strike="noStrike" cap="none" normalizeH="0" baseline="0">
                <a:ln>
                  <a:noFill/>
                </a:ln>
                <a:solidFill>
                  <a:srgbClr val="FFFF00"/>
                </a:solidFill>
                <a:effectLst/>
                <a:latin typeface="Arial" panose="020B0604020202020204" pitchFamily="34" charset="0"/>
              </a:rPr>
              <a:t>Delay_Reason</a:t>
            </a:r>
            <a:r>
              <a:rPr kumimoji="0" lang="en-US" altLang="en-US" sz="1800" b="0" i="0" u="none" strike="noStrike" cap="none" normalizeH="0" baseline="0">
                <a:ln>
                  <a:noFill/>
                </a:ln>
                <a:solidFill>
                  <a:srgbClr val="FFFF00"/>
                </a:solidFill>
                <a:effectLst/>
                <a:latin typeface="Arial" panose="020B0604020202020204" pitchFamily="34" charset="0"/>
              </a:rPr>
              <a:t> (excluding ‘None’)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00"/>
                </a:solidFill>
                <a:effectLst/>
                <a:latin typeface="Arial" panose="020B0604020202020204" pitchFamily="34" charset="0"/>
              </a:rPr>
              <a:t>Counted delayed checkpoints for each order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FFFF00"/>
                </a:solidFill>
                <a:effectLst/>
                <a:latin typeface="Arial" panose="020B0604020202020204" pitchFamily="34" charset="0"/>
              </a:rPr>
              <a:t>Highlighted shipments with </a:t>
            </a:r>
            <a:r>
              <a:rPr kumimoji="0" lang="en-US" altLang="en-US" sz="1800" b="1" i="0" u="none" strike="noStrike" cap="none" normalizeH="0" baseline="0">
                <a:ln>
                  <a:noFill/>
                </a:ln>
                <a:solidFill>
                  <a:srgbClr val="FFFF00"/>
                </a:solidFill>
                <a:effectLst/>
                <a:latin typeface="Arial" panose="020B0604020202020204" pitchFamily="34" charset="0"/>
              </a:rPr>
              <a:t>repeated disruptions</a:t>
            </a:r>
            <a:endParaRPr kumimoji="0" lang="en-US" altLang="en-US" sz="1800" b="0" i="0" u="none" strike="noStrike" cap="none" normalizeH="0" baseline="0">
              <a:ln>
                <a:noFill/>
              </a:ln>
              <a:solidFill>
                <a:srgbClr val="FFFF00"/>
              </a:solidFill>
              <a:effectLst/>
              <a:latin typeface="Arial" panose="020B0604020202020204" pitchFamily="34" charset="0"/>
            </a:endParaRPr>
          </a:p>
        </p:txBody>
      </p:sp>
    </p:spTree>
    <p:extLst>
      <p:ext uri="{BB962C8B-B14F-4D97-AF65-F5344CB8AC3E}">
        <p14:creationId xmlns:p14="http://schemas.microsoft.com/office/powerpoint/2010/main" val="1908528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2772A8-81B2-C7A2-A158-B8A8DE9A8686}"/>
              </a:ext>
            </a:extLst>
          </p:cNvPr>
          <p:cNvSpPr txBox="1"/>
          <p:nvPr/>
        </p:nvSpPr>
        <p:spPr>
          <a:xfrm>
            <a:off x="4545984" y="89552"/>
            <a:ext cx="6093724" cy="461665"/>
          </a:xfrm>
          <a:prstGeom prst="rect">
            <a:avLst/>
          </a:prstGeom>
          <a:noFill/>
        </p:spPr>
        <p:txBody>
          <a:bodyPr wrap="square">
            <a:spAutoFit/>
          </a:bodyPr>
          <a:lstStyle/>
          <a:p>
            <a:r>
              <a:rPr lang="en-US" sz="2400" dirty="0">
                <a:solidFill>
                  <a:schemeClr val="accent5">
                    <a:lumMod val="40000"/>
                    <a:lumOff val="60000"/>
                  </a:schemeClr>
                </a:solidFill>
              </a:rPr>
              <a:t>Advanced KPI Reporting</a:t>
            </a:r>
            <a:endParaRPr lang="en-IN" sz="2400" dirty="0">
              <a:solidFill>
                <a:schemeClr val="accent5">
                  <a:lumMod val="40000"/>
                  <a:lumOff val="60000"/>
                </a:schemeClr>
              </a:solidFill>
            </a:endParaRPr>
          </a:p>
        </p:txBody>
      </p:sp>
      <p:sp>
        <p:nvSpPr>
          <p:cNvPr id="7" name="TextBox 6">
            <a:extLst>
              <a:ext uri="{FF2B5EF4-FFF2-40B4-BE49-F238E27FC236}">
                <a16:creationId xmlns:a16="http://schemas.microsoft.com/office/drawing/2014/main" id="{166827EE-FFC9-C9B9-F35E-42C1185E4AE0}"/>
              </a:ext>
            </a:extLst>
          </p:cNvPr>
          <p:cNvSpPr txBox="1"/>
          <p:nvPr/>
        </p:nvSpPr>
        <p:spPr>
          <a:xfrm>
            <a:off x="2276" y="6211669"/>
            <a:ext cx="6093724" cy="646331"/>
          </a:xfrm>
          <a:prstGeom prst="rect">
            <a:avLst/>
          </a:prstGeom>
          <a:noFill/>
        </p:spPr>
        <p:txBody>
          <a:bodyPr wrap="square">
            <a:spAutoFit/>
          </a:bodyPr>
          <a:lstStyle/>
          <a:p>
            <a:r>
              <a:rPr lang="en-US" i="1" dirty="0">
                <a:solidFill>
                  <a:srgbClr val="92D050"/>
                </a:solidFill>
              </a:rPr>
              <a:t>Average delivery delay was calculated per region by joining Orders with Routes to access start location data.</a:t>
            </a:r>
            <a:endParaRPr lang="en-IN" i="1" dirty="0">
              <a:solidFill>
                <a:srgbClr val="92D050"/>
              </a:solidFill>
            </a:endParaRPr>
          </a:p>
        </p:txBody>
      </p:sp>
      <p:pic>
        <p:nvPicPr>
          <p:cNvPr id="9" name="Picture 8">
            <a:extLst>
              <a:ext uri="{FF2B5EF4-FFF2-40B4-BE49-F238E27FC236}">
                <a16:creationId xmlns:a16="http://schemas.microsoft.com/office/drawing/2014/main" id="{63EE06AF-6EB6-214D-7792-6D8CBA28AFB4}"/>
              </a:ext>
            </a:extLst>
          </p:cNvPr>
          <p:cNvPicPr>
            <a:picLocks noChangeAspect="1"/>
          </p:cNvPicPr>
          <p:nvPr/>
        </p:nvPicPr>
        <p:blipFill>
          <a:blip r:embed="rId2"/>
          <a:stretch>
            <a:fillRect/>
          </a:stretch>
        </p:blipFill>
        <p:spPr>
          <a:xfrm>
            <a:off x="52318" y="1057615"/>
            <a:ext cx="5785515" cy="5152620"/>
          </a:xfrm>
          <a:prstGeom prst="rect">
            <a:avLst/>
          </a:prstGeom>
        </p:spPr>
      </p:pic>
      <p:sp>
        <p:nvSpPr>
          <p:cNvPr id="11" name="TextBox 10">
            <a:extLst>
              <a:ext uri="{FF2B5EF4-FFF2-40B4-BE49-F238E27FC236}">
                <a16:creationId xmlns:a16="http://schemas.microsoft.com/office/drawing/2014/main" id="{9FD604E0-9AFB-9CD8-1CBC-27C32869F6F5}"/>
              </a:ext>
            </a:extLst>
          </p:cNvPr>
          <p:cNvSpPr txBox="1"/>
          <p:nvPr/>
        </p:nvSpPr>
        <p:spPr>
          <a:xfrm>
            <a:off x="126242" y="689717"/>
            <a:ext cx="6121020" cy="369332"/>
          </a:xfrm>
          <a:prstGeom prst="rect">
            <a:avLst/>
          </a:prstGeom>
          <a:noFill/>
        </p:spPr>
        <p:txBody>
          <a:bodyPr wrap="square">
            <a:spAutoFit/>
          </a:bodyPr>
          <a:lstStyle/>
          <a:p>
            <a:r>
              <a:rPr lang="en-US" dirty="0"/>
              <a:t>1.Average Delivery Delay per Region (</a:t>
            </a:r>
            <a:r>
              <a:rPr lang="en-US" dirty="0" err="1"/>
              <a:t>Start_Location</a:t>
            </a:r>
            <a:r>
              <a:rPr lang="en-US" dirty="0"/>
              <a:t>). </a:t>
            </a:r>
            <a:endParaRPr lang="en-IN" dirty="0"/>
          </a:p>
        </p:txBody>
      </p:sp>
      <p:sp>
        <p:nvSpPr>
          <p:cNvPr id="13" name="TextBox 12">
            <a:extLst>
              <a:ext uri="{FF2B5EF4-FFF2-40B4-BE49-F238E27FC236}">
                <a16:creationId xmlns:a16="http://schemas.microsoft.com/office/drawing/2014/main" id="{3A52DCAC-63A5-BEF3-84CC-70630B85C68F}"/>
              </a:ext>
            </a:extLst>
          </p:cNvPr>
          <p:cNvSpPr txBox="1"/>
          <p:nvPr/>
        </p:nvSpPr>
        <p:spPr>
          <a:xfrm>
            <a:off x="6010700" y="689717"/>
            <a:ext cx="4476325" cy="646331"/>
          </a:xfrm>
          <a:prstGeom prst="rect">
            <a:avLst/>
          </a:prstGeom>
          <a:noFill/>
        </p:spPr>
        <p:txBody>
          <a:bodyPr wrap="square">
            <a:spAutoFit/>
          </a:bodyPr>
          <a:lstStyle/>
          <a:p>
            <a:r>
              <a:rPr lang="en-US"/>
              <a:t>2.On-Time Delivery % = (Total On-Time Deliveries / Total Deliveries) * 100. </a:t>
            </a:r>
            <a:endParaRPr lang="en-IN" dirty="0"/>
          </a:p>
        </p:txBody>
      </p:sp>
      <p:pic>
        <p:nvPicPr>
          <p:cNvPr id="4" name="Picture 3">
            <a:extLst>
              <a:ext uri="{FF2B5EF4-FFF2-40B4-BE49-F238E27FC236}">
                <a16:creationId xmlns:a16="http://schemas.microsoft.com/office/drawing/2014/main" id="{180F24AA-A270-FCCA-792F-9D1179405EE9}"/>
              </a:ext>
            </a:extLst>
          </p:cNvPr>
          <p:cNvPicPr>
            <a:picLocks noChangeAspect="1"/>
          </p:cNvPicPr>
          <p:nvPr/>
        </p:nvPicPr>
        <p:blipFill>
          <a:blip r:embed="rId3"/>
          <a:stretch>
            <a:fillRect/>
          </a:stretch>
        </p:blipFill>
        <p:spPr>
          <a:xfrm>
            <a:off x="5876496" y="1336048"/>
            <a:ext cx="6255224" cy="4832235"/>
          </a:xfrm>
          <a:prstGeom prst="rect">
            <a:avLst/>
          </a:prstGeom>
        </p:spPr>
      </p:pic>
      <p:sp>
        <p:nvSpPr>
          <p:cNvPr id="10" name="TextBox 9">
            <a:extLst>
              <a:ext uri="{FF2B5EF4-FFF2-40B4-BE49-F238E27FC236}">
                <a16:creationId xmlns:a16="http://schemas.microsoft.com/office/drawing/2014/main" id="{C0C684C8-5F26-91FD-CC48-223459C0D35D}"/>
              </a:ext>
            </a:extLst>
          </p:cNvPr>
          <p:cNvSpPr txBox="1"/>
          <p:nvPr/>
        </p:nvSpPr>
        <p:spPr>
          <a:xfrm>
            <a:off x="6247262" y="6211668"/>
            <a:ext cx="6125028" cy="646331"/>
          </a:xfrm>
          <a:prstGeom prst="rect">
            <a:avLst/>
          </a:prstGeom>
          <a:noFill/>
        </p:spPr>
        <p:txBody>
          <a:bodyPr wrap="square">
            <a:spAutoFit/>
          </a:bodyPr>
          <a:lstStyle/>
          <a:p>
            <a:r>
              <a:rPr lang="en-US" i="1" dirty="0">
                <a:solidFill>
                  <a:srgbClr val="92D050"/>
                </a:solidFill>
              </a:rPr>
              <a:t>On-time delivery was defined as deliveries completed on or before the expected delivery date.</a:t>
            </a:r>
            <a:endParaRPr lang="en-IN" i="1" dirty="0">
              <a:solidFill>
                <a:srgbClr val="92D050"/>
              </a:solidFill>
            </a:endParaRPr>
          </a:p>
        </p:txBody>
      </p:sp>
      <p:sp>
        <p:nvSpPr>
          <p:cNvPr id="5" name="TextBox 4">
            <a:extLst>
              <a:ext uri="{FF2B5EF4-FFF2-40B4-BE49-F238E27FC236}">
                <a16:creationId xmlns:a16="http://schemas.microsoft.com/office/drawing/2014/main" id="{7FB4EFF3-07ED-BFCA-994E-D998CC72E6BC}"/>
              </a:ext>
            </a:extLst>
          </p:cNvPr>
          <p:cNvSpPr txBox="1"/>
          <p:nvPr/>
        </p:nvSpPr>
        <p:spPr>
          <a:xfrm>
            <a:off x="10597154" y="612773"/>
            <a:ext cx="1542528" cy="584775"/>
          </a:xfrm>
          <a:prstGeom prst="rect">
            <a:avLst/>
          </a:prstGeom>
          <a:noFill/>
        </p:spPr>
        <p:txBody>
          <a:bodyPr wrap="square">
            <a:spAutoFit/>
          </a:bodyPr>
          <a:lstStyle/>
          <a:p>
            <a:r>
              <a:rPr lang="en-US" sz="3200" dirty="0">
                <a:solidFill>
                  <a:schemeClr val="bg1"/>
                </a:solidFill>
              </a:rPr>
              <a:t>Task 7:</a:t>
            </a:r>
            <a:endParaRPr lang="en-IN" sz="3200" dirty="0">
              <a:solidFill>
                <a:schemeClr val="bg1"/>
              </a:solidFill>
            </a:endParaRPr>
          </a:p>
        </p:txBody>
      </p:sp>
    </p:spTree>
    <p:extLst>
      <p:ext uri="{BB962C8B-B14F-4D97-AF65-F5344CB8AC3E}">
        <p14:creationId xmlns:p14="http://schemas.microsoft.com/office/powerpoint/2010/main" val="1283918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0AA7F1-8BE0-F744-6B9F-49C5016A4B7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3F1FE45-8960-76DE-1D96-1DB78104BAC7}"/>
              </a:ext>
            </a:extLst>
          </p:cNvPr>
          <p:cNvPicPr>
            <a:picLocks noChangeAspect="1"/>
          </p:cNvPicPr>
          <p:nvPr/>
        </p:nvPicPr>
        <p:blipFill>
          <a:blip r:embed="rId2"/>
          <a:stretch>
            <a:fillRect/>
          </a:stretch>
        </p:blipFill>
        <p:spPr>
          <a:xfrm>
            <a:off x="5611472" y="2463084"/>
            <a:ext cx="6580528" cy="4359445"/>
          </a:xfrm>
          <a:prstGeom prst="rect">
            <a:avLst/>
          </a:prstGeom>
        </p:spPr>
      </p:pic>
      <p:pic>
        <p:nvPicPr>
          <p:cNvPr id="3" name="Picture 2">
            <a:extLst>
              <a:ext uri="{FF2B5EF4-FFF2-40B4-BE49-F238E27FC236}">
                <a16:creationId xmlns:a16="http://schemas.microsoft.com/office/drawing/2014/main" id="{1506B179-5E08-B17B-A7EC-B4E428B3B6F3}"/>
              </a:ext>
            </a:extLst>
          </p:cNvPr>
          <p:cNvPicPr>
            <a:picLocks noChangeAspect="1"/>
          </p:cNvPicPr>
          <p:nvPr/>
        </p:nvPicPr>
        <p:blipFill>
          <a:blip r:embed="rId3"/>
          <a:stretch>
            <a:fillRect/>
          </a:stretch>
        </p:blipFill>
        <p:spPr>
          <a:xfrm>
            <a:off x="67036" y="917601"/>
            <a:ext cx="5500048" cy="5848066"/>
          </a:xfrm>
          <a:prstGeom prst="rect">
            <a:avLst/>
          </a:prstGeom>
        </p:spPr>
      </p:pic>
      <p:sp>
        <p:nvSpPr>
          <p:cNvPr id="5" name="TextBox 4">
            <a:extLst>
              <a:ext uri="{FF2B5EF4-FFF2-40B4-BE49-F238E27FC236}">
                <a16:creationId xmlns:a16="http://schemas.microsoft.com/office/drawing/2014/main" id="{B95E7012-36C7-1A73-4D9B-27510E56D638}"/>
              </a:ext>
            </a:extLst>
          </p:cNvPr>
          <p:cNvSpPr txBox="1"/>
          <p:nvPr/>
        </p:nvSpPr>
        <p:spPr>
          <a:xfrm>
            <a:off x="5910586" y="206991"/>
            <a:ext cx="6093724" cy="923330"/>
          </a:xfrm>
          <a:prstGeom prst="rect">
            <a:avLst/>
          </a:prstGeom>
          <a:noFill/>
        </p:spPr>
        <p:txBody>
          <a:bodyPr wrap="square">
            <a:spAutoFit/>
          </a:bodyPr>
          <a:lstStyle/>
          <a:p>
            <a:r>
              <a:rPr lang="en-US" i="1" dirty="0">
                <a:solidFill>
                  <a:schemeClr val="accent4">
                    <a:lumMod val="20000"/>
                    <a:lumOff val="80000"/>
                  </a:schemeClr>
                </a:solidFill>
              </a:rPr>
              <a:t>Average traffic delay per route was calculated to analyze route efficiency and identify congestion-prone routes.</a:t>
            </a:r>
            <a:endParaRPr lang="en-IN" i="1" dirty="0">
              <a:solidFill>
                <a:schemeClr val="accent4">
                  <a:lumMod val="20000"/>
                  <a:lumOff val="80000"/>
                </a:schemeClr>
              </a:solidFill>
            </a:endParaRPr>
          </a:p>
        </p:txBody>
      </p:sp>
      <p:sp>
        <p:nvSpPr>
          <p:cNvPr id="7" name="TextBox 6">
            <a:extLst>
              <a:ext uri="{FF2B5EF4-FFF2-40B4-BE49-F238E27FC236}">
                <a16:creationId xmlns:a16="http://schemas.microsoft.com/office/drawing/2014/main" id="{C69044D6-CA71-DE5E-B7F3-4F176EE3AA25}"/>
              </a:ext>
            </a:extLst>
          </p:cNvPr>
          <p:cNvSpPr txBox="1"/>
          <p:nvPr/>
        </p:nvSpPr>
        <p:spPr>
          <a:xfrm>
            <a:off x="522027" y="351556"/>
            <a:ext cx="5045057" cy="369332"/>
          </a:xfrm>
          <a:prstGeom prst="rect">
            <a:avLst/>
          </a:prstGeom>
          <a:noFill/>
        </p:spPr>
        <p:txBody>
          <a:bodyPr wrap="square">
            <a:spAutoFit/>
          </a:bodyPr>
          <a:lstStyle/>
          <a:p>
            <a:r>
              <a:rPr lang="en-IN" dirty="0"/>
              <a:t>3.Average Traffic Delay per Route.</a:t>
            </a:r>
          </a:p>
        </p:txBody>
      </p:sp>
      <p:pic>
        <p:nvPicPr>
          <p:cNvPr id="9" name="Picture 8">
            <a:extLst>
              <a:ext uri="{FF2B5EF4-FFF2-40B4-BE49-F238E27FC236}">
                <a16:creationId xmlns:a16="http://schemas.microsoft.com/office/drawing/2014/main" id="{40DA26F8-452B-C9A5-19A7-87C8DD35FB79}"/>
              </a:ext>
            </a:extLst>
          </p:cNvPr>
          <p:cNvPicPr>
            <a:picLocks noChangeAspect="1"/>
          </p:cNvPicPr>
          <p:nvPr/>
        </p:nvPicPr>
        <p:blipFill>
          <a:blip r:embed="rId4"/>
          <a:stretch>
            <a:fillRect/>
          </a:stretch>
        </p:blipFill>
        <p:spPr>
          <a:xfrm>
            <a:off x="5611472" y="2594441"/>
            <a:ext cx="6513492" cy="1800476"/>
          </a:xfrm>
          <a:prstGeom prst="rect">
            <a:avLst/>
          </a:prstGeom>
        </p:spPr>
      </p:pic>
      <p:sp>
        <p:nvSpPr>
          <p:cNvPr id="12" name="TextBox 11">
            <a:extLst>
              <a:ext uri="{FF2B5EF4-FFF2-40B4-BE49-F238E27FC236}">
                <a16:creationId xmlns:a16="http://schemas.microsoft.com/office/drawing/2014/main" id="{4938D54B-AA7B-E339-C943-38EA9A405CD5}"/>
              </a:ext>
            </a:extLst>
          </p:cNvPr>
          <p:cNvSpPr txBox="1"/>
          <p:nvPr/>
        </p:nvSpPr>
        <p:spPr>
          <a:xfrm>
            <a:off x="6096000" y="1637731"/>
            <a:ext cx="4521958" cy="369332"/>
          </a:xfrm>
          <a:prstGeom prst="rect">
            <a:avLst/>
          </a:prstGeom>
          <a:noFill/>
        </p:spPr>
        <p:txBody>
          <a:bodyPr wrap="square" rtlCol="0">
            <a:spAutoFit/>
          </a:bodyPr>
          <a:lstStyle/>
          <a:p>
            <a:r>
              <a:rPr lang="en-IN" b="1" dirty="0">
                <a:solidFill>
                  <a:srgbClr val="FFFF00"/>
                </a:solidFill>
              </a:rPr>
              <a:t>Final Dashboard Query(combined </a:t>
            </a:r>
            <a:r>
              <a:rPr lang="en-IN" b="1" dirty="0">
                <a:solidFill>
                  <a:schemeClr val="accent1">
                    <a:lumMod val="20000"/>
                    <a:lumOff val="80000"/>
                  </a:schemeClr>
                </a:solidFill>
              </a:rPr>
              <a:t>query)</a:t>
            </a:r>
          </a:p>
        </p:txBody>
      </p:sp>
      <p:sp>
        <p:nvSpPr>
          <p:cNvPr id="13" name="TextBox 12">
            <a:extLst>
              <a:ext uri="{FF2B5EF4-FFF2-40B4-BE49-F238E27FC236}">
                <a16:creationId xmlns:a16="http://schemas.microsoft.com/office/drawing/2014/main" id="{0A1E8DF6-EE80-4210-0127-12BC527FA768}"/>
              </a:ext>
            </a:extLst>
          </p:cNvPr>
          <p:cNvSpPr txBox="1"/>
          <p:nvPr/>
        </p:nvSpPr>
        <p:spPr>
          <a:xfrm>
            <a:off x="6580528" y="4553570"/>
            <a:ext cx="1542197" cy="369332"/>
          </a:xfrm>
          <a:prstGeom prst="rect">
            <a:avLst/>
          </a:prstGeom>
          <a:noFill/>
        </p:spPr>
        <p:txBody>
          <a:bodyPr wrap="square" rtlCol="0">
            <a:spAutoFit/>
          </a:bodyPr>
          <a:lstStyle/>
          <a:p>
            <a:r>
              <a:rPr lang="en-US" dirty="0"/>
              <a:t>output</a:t>
            </a:r>
            <a:endParaRPr lang="en-IN" dirty="0"/>
          </a:p>
        </p:txBody>
      </p:sp>
      <p:sp>
        <p:nvSpPr>
          <p:cNvPr id="14" name="Arrow: Down 13">
            <a:extLst>
              <a:ext uri="{FF2B5EF4-FFF2-40B4-BE49-F238E27FC236}">
                <a16:creationId xmlns:a16="http://schemas.microsoft.com/office/drawing/2014/main" id="{B0922143-B265-A242-AC2C-040882ACF6C0}"/>
              </a:ext>
            </a:extLst>
          </p:cNvPr>
          <p:cNvSpPr/>
          <p:nvPr/>
        </p:nvSpPr>
        <p:spPr>
          <a:xfrm>
            <a:off x="7369791" y="4553570"/>
            <a:ext cx="450376" cy="42872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38213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08E2F-2CA6-C350-3F1D-C6337676E088}"/>
            </a:ext>
          </a:extLst>
        </p:cNvPr>
        <p:cNvGrpSpPr/>
        <p:nvPr/>
      </p:nvGrpSpPr>
      <p:grpSpPr>
        <a:xfrm>
          <a:off x="0" y="0"/>
          <a:ext cx="0" cy="0"/>
          <a:chOff x="0" y="0"/>
          <a:chExt cx="0" cy="0"/>
        </a:xfrm>
      </p:grpSpPr>
      <p:sp>
        <p:nvSpPr>
          <p:cNvPr id="97" name="TextBox 96">
            <a:extLst>
              <a:ext uri="{FF2B5EF4-FFF2-40B4-BE49-F238E27FC236}">
                <a16:creationId xmlns:a16="http://schemas.microsoft.com/office/drawing/2014/main" id="{640A12B5-FA2F-A51D-8F8C-86C0F4A85294}"/>
              </a:ext>
            </a:extLst>
          </p:cNvPr>
          <p:cNvSpPr txBox="1"/>
          <p:nvPr/>
        </p:nvSpPr>
        <p:spPr>
          <a:xfrm>
            <a:off x="1069481" y="5796260"/>
            <a:ext cx="9526190" cy="646331"/>
          </a:xfrm>
          <a:prstGeom prst="rect">
            <a:avLst/>
          </a:prstGeom>
          <a:noFill/>
        </p:spPr>
        <p:txBody>
          <a:bodyPr wrap="square">
            <a:spAutoFit/>
          </a:bodyPr>
          <a:lstStyle/>
          <a:p>
            <a:r>
              <a:rPr lang="en-US" i="1" dirty="0">
                <a:solidFill>
                  <a:schemeClr val="accent4">
                    <a:lumMod val="20000"/>
                    <a:lumOff val="80000"/>
                  </a:schemeClr>
                </a:solidFill>
              </a:rPr>
              <a:t>KPIs were visualized using Power BI dashboards to provide interactive insights into delivery performance, traffic delays, and operational efficiency.</a:t>
            </a:r>
            <a:endParaRPr lang="en-IN" i="1" dirty="0">
              <a:solidFill>
                <a:schemeClr val="accent4">
                  <a:lumMod val="20000"/>
                  <a:lumOff val="80000"/>
                </a:schemeClr>
              </a:solidFill>
            </a:endParaRPr>
          </a:p>
        </p:txBody>
      </p:sp>
      <p:pic>
        <p:nvPicPr>
          <p:cNvPr id="99" name="Picture 98">
            <a:extLst>
              <a:ext uri="{FF2B5EF4-FFF2-40B4-BE49-F238E27FC236}">
                <a16:creationId xmlns:a16="http://schemas.microsoft.com/office/drawing/2014/main" id="{3D44245D-3BB9-60A6-21DC-C20BFA2BB5F5}"/>
              </a:ext>
            </a:extLst>
          </p:cNvPr>
          <p:cNvPicPr>
            <a:picLocks noChangeAspect="1"/>
          </p:cNvPicPr>
          <p:nvPr/>
        </p:nvPicPr>
        <p:blipFill>
          <a:blip r:embed="rId2"/>
          <a:stretch>
            <a:fillRect/>
          </a:stretch>
        </p:blipFill>
        <p:spPr>
          <a:xfrm>
            <a:off x="57148" y="57148"/>
            <a:ext cx="12077700" cy="5471795"/>
          </a:xfrm>
          <a:prstGeom prst="rect">
            <a:avLst/>
          </a:prstGeom>
        </p:spPr>
      </p:pic>
    </p:spTree>
    <p:extLst>
      <p:ext uri="{BB962C8B-B14F-4D97-AF65-F5344CB8AC3E}">
        <p14:creationId xmlns:p14="http://schemas.microsoft.com/office/powerpoint/2010/main" val="3530917306"/>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12652</TotalTime>
  <Words>887</Words>
  <Application>Microsoft Office PowerPoint</Application>
  <PresentationFormat>Widescreen</PresentationFormat>
  <Paragraphs>87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Bell MT</vt:lpstr>
      <vt:lpstr>Trebuchet MS</vt:lpstr>
      <vt:lpstr>Berlin</vt:lpstr>
      <vt:lpstr>Amazon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9</cp:revision>
  <dcterms:created xsi:type="dcterms:W3CDTF">2026-03-11T11:21:30Z</dcterms:created>
  <dcterms:modified xsi:type="dcterms:W3CDTF">2026-03-20T08:32:14Z</dcterms:modified>
</cp:coreProperties>
</file>